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8" name="7 Título"/>
          <p:cNvSpPr>
            <a:spLocks noGrp="1"/>
          </p:cNvSpPr>
          <p:nvPr>
            <p:ph type="ctrTitle"/>
          </p:nvPr>
        </p:nvSpPr>
        <p:spPr>
          <a:xfrm>
            <a:off x="422030" y="1371600"/>
            <a:ext cx="82296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es-ES"/>
              <a:t>Haga clic para modificar el estilo de título del patrón</a:t>
            </a:r>
            <a:endParaRPr kumimoji="0" lang="en-US"/>
          </a:p>
        </p:txBody>
      </p:sp>
      <p:sp>
        <p:nvSpPr>
          <p:cNvPr id="28" name="27 Marcador de fecha"/>
          <p:cNvSpPr>
            <a:spLocks noGrp="1"/>
          </p:cNvSpPr>
          <p:nvPr>
            <p:ph type="dt" sz="half" idx="10"/>
          </p:nvPr>
        </p:nvSpPr>
        <p:spPr/>
        <p:txBody>
          <a:bodyPr/>
          <a:lstStyle/>
          <a:p>
            <a:fld id="{BC3A2ED3-A378-47AE-9554-9DC1F48D50CB}" type="datetimeFigureOut">
              <a:rPr lang="es-CO" smtClean="0"/>
              <a:t>27/04/2023</a:t>
            </a:fld>
            <a:endParaRPr lang="es-CO"/>
          </a:p>
        </p:txBody>
      </p:sp>
      <p:sp>
        <p:nvSpPr>
          <p:cNvPr id="17" name="16 Marcador de pie de página"/>
          <p:cNvSpPr>
            <a:spLocks noGrp="1"/>
          </p:cNvSpPr>
          <p:nvPr>
            <p:ph type="ftr" sz="quarter" idx="11"/>
          </p:nvPr>
        </p:nvSpPr>
        <p:spPr/>
        <p:txBody>
          <a:bodyPr/>
          <a:lstStyle/>
          <a:p>
            <a:endParaRPr lang="es-CO"/>
          </a:p>
        </p:txBody>
      </p:sp>
      <p:sp>
        <p:nvSpPr>
          <p:cNvPr id="29" name="28 Marcador de número de diapositiva"/>
          <p:cNvSpPr>
            <a:spLocks noGrp="1"/>
          </p:cNvSpPr>
          <p:nvPr>
            <p:ph type="sldNum" sz="quarter" idx="12"/>
          </p:nvPr>
        </p:nvSpPr>
        <p:spPr/>
        <p:txBody>
          <a:bodyPr/>
          <a:lstStyle/>
          <a:p>
            <a:fld id="{B0198BB4-202C-4CB3-B1BB-DF05338FBFDC}" type="slidenum">
              <a:rPr lang="es-CO" smtClean="0"/>
              <a:t>‹Nº›</a:t>
            </a:fld>
            <a:endParaRPr lang="es-CO"/>
          </a:p>
        </p:txBody>
      </p:sp>
      <p:sp>
        <p:nvSpPr>
          <p:cNvPr id="9" name="8 Subtítulo"/>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a:t>Haga clic para modificar el estilo de subtítulo del patrón</a:t>
            </a:r>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3" name="2 Marcador de contenido"/>
          <p:cNvSpPr>
            <a:spLocks noGrp="1"/>
          </p:cNvSpPr>
          <p:nvPr>
            <p:ph idx="1"/>
          </p:nvPr>
        </p:nvSpPr>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BC3A2ED3-A378-47AE-9554-9DC1F48D50CB}" type="datetimeFigureOut">
              <a:rPr lang="es-CO" smtClean="0"/>
              <a:t>27/04/2023</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B0198BB4-202C-4CB3-B1BB-DF05338FBFDC}" type="slidenum">
              <a:rPr lang="es-CO" smtClean="0"/>
              <a:t>‹Nº›</a:t>
            </a:fld>
            <a:endParaRPr lang="es-C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Ref idx="1003">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1600200" y="609600"/>
            <a:ext cx="70866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es-ES"/>
              <a:t>Haga clic para modificar el estilo de título del patrón</a:t>
            </a:r>
            <a:endParaRPr kumimoji="0" lang="en-US"/>
          </a:p>
        </p:txBody>
      </p:sp>
      <p:sp>
        <p:nvSpPr>
          <p:cNvPr id="3" name="2 Marcador de texto"/>
          <p:cNvSpPr>
            <a:spLocks noGrp="1"/>
          </p:cNvSpPr>
          <p:nvPr>
            <p:ph type="body" idx="1"/>
          </p:nvPr>
        </p:nvSpPr>
        <p:spPr>
          <a:xfrm>
            <a:off x="1600200" y="2507786"/>
            <a:ext cx="70866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a:t>Haga clic para modificar el estilo de texto del patrón</a:t>
            </a:r>
          </a:p>
        </p:txBody>
      </p:sp>
      <p:sp>
        <p:nvSpPr>
          <p:cNvPr id="4" name="3 Marcador de fecha"/>
          <p:cNvSpPr>
            <a:spLocks noGrp="1"/>
          </p:cNvSpPr>
          <p:nvPr>
            <p:ph type="dt" sz="half" idx="10"/>
          </p:nvPr>
        </p:nvSpPr>
        <p:spPr/>
        <p:txBody>
          <a:bodyPr/>
          <a:lstStyle/>
          <a:p>
            <a:fld id="{BC3A2ED3-A378-47AE-9554-9DC1F48D50CB}" type="datetimeFigureOut">
              <a:rPr lang="es-CO" smtClean="0"/>
              <a:t>27/04/2023</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a:xfrm>
            <a:off x="7924800" y="6416675"/>
            <a:ext cx="762000" cy="365125"/>
          </a:xfrm>
        </p:spPr>
        <p:txBody>
          <a:bodyPr/>
          <a:lstStyle/>
          <a:p>
            <a:fld id="{B0198BB4-202C-4CB3-B1BB-DF05338FBFDC}" type="slidenum">
              <a:rPr lang="es-CO" smtClean="0"/>
              <a:t>‹Nº›</a:t>
            </a:fld>
            <a:endParaRPr lang="es-CO"/>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3" name="2 Marcador de contenido"/>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contenido"/>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5" name="4 Marcador de fecha"/>
          <p:cNvSpPr>
            <a:spLocks noGrp="1"/>
          </p:cNvSpPr>
          <p:nvPr>
            <p:ph type="dt" sz="half" idx="10"/>
          </p:nvPr>
        </p:nvSpPr>
        <p:spPr/>
        <p:txBody>
          <a:bodyPr/>
          <a:lstStyle/>
          <a:p>
            <a:fld id="{BC3A2ED3-A378-47AE-9554-9DC1F48D50CB}" type="datetimeFigureOut">
              <a:rPr lang="es-CO" smtClean="0"/>
              <a:t>27/04/2023</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B0198BB4-202C-4CB3-B1BB-DF05338FBFDC}" type="slidenum">
              <a:rPr lang="es-CO" smtClean="0"/>
              <a:t>‹Nº›</a:t>
            </a:fld>
            <a:endParaRPr lang="es-CO"/>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8229600" cy="1143000"/>
          </a:xfrm>
        </p:spPr>
        <p:txBody>
          <a:bodyPr anchor="ctr"/>
          <a:lstStyle>
            <a:lvl1pPr>
              <a:defRPr/>
            </a:lvl1pPr>
          </a:lstStyle>
          <a:p>
            <a:r>
              <a:rPr kumimoji="0" lang="es-ES"/>
              <a:t>Haga clic para modificar el estilo de título del patrón</a:t>
            </a:r>
            <a:endParaRPr kumimoji="0" lang="en-US"/>
          </a:p>
        </p:txBody>
      </p:sp>
      <p:sp>
        <p:nvSpPr>
          <p:cNvPr id="3" name="2 Marcador de texto"/>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a:t>Haga clic para modificar el estilo de texto del patrón</a:t>
            </a:r>
          </a:p>
        </p:txBody>
      </p:sp>
      <p:sp>
        <p:nvSpPr>
          <p:cNvPr id="4" name="3 Marcador de texto"/>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a:t>Haga clic para modificar el estilo de texto del patrón</a:t>
            </a:r>
          </a:p>
        </p:txBody>
      </p:sp>
      <p:sp>
        <p:nvSpPr>
          <p:cNvPr id="5" name="4 Marcador de contenido"/>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6" name="5 Marcador de contenido"/>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7" name="6 Marcador de fecha"/>
          <p:cNvSpPr>
            <a:spLocks noGrp="1"/>
          </p:cNvSpPr>
          <p:nvPr>
            <p:ph type="dt" sz="half" idx="10"/>
          </p:nvPr>
        </p:nvSpPr>
        <p:spPr/>
        <p:txBody>
          <a:bodyPr/>
          <a:lstStyle/>
          <a:p>
            <a:fld id="{BC3A2ED3-A378-47AE-9554-9DC1F48D50CB}" type="datetimeFigureOut">
              <a:rPr lang="es-CO" smtClean="0"/>
              <a:t>27/04/2023</a:t>
            </a:fld>
            <a:endParaRPr lang="es-CO"/>
          </a:p>
        </p:txBody>
      </p:sp>
      <p:sp>
        <p:nvSpPr>
          <p:cNvPr id="8" name="7 Marcador de pie de página"/>
          <p:cNvSpPr>
            <a:spLocks noGrp="1"/>
          </p:cNvSpPr>
          <p:nvPr>
            <p:ph type="ftr" sz="quarter" idx="11"/>
          </p:nvPr>
        </p:nvSpPr>
        <p:spPr/>
        <p:txBody>
          <a:bodyPr/>
          <a:lstStyle/>
          <a:p>
            <a:endParaRPr lang="es-CO"/>
          </a:p>
        </p:txBody>
      </p:sp>
      <p:sp>
        <p:nvSpPr>
          <p:cNvPr id="9" name="8 Marcador de número de diapositiva"/>
          <p:cNvSpPr>
            <a:spLocks noGrp="1"/>
          </p:cNvSpPr>
          <p:nvPr>
            <p:ph type="sldNum" sz="quarter" idx="12"/>
          </p:nvPr>
        </p:nvSpPr>
        <p:spPr/>
        <p:txBody>
          <a:bodyPr/>
          <a:lstStyle/>
          <a:p>
            <a:fld id="{B0198BB4-202C-4CB3-B1BB-DF05338FBFDC}" type="slidenum">
              <a:rPr lang="es-CO" smtClean="0"/>
              <a:t>‹Nº›</a:t>
            </a:fld>
            <a:endParaRPr lang="es-CO"/>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3" name="2 Marcador de fecha"/>
          <p:cNvSpPr>
            <a:spLocks noGrp="1"/>
          </p:cNvSpPr>
          <p:nvPr>
            <p:ph type="dt" sz="half" idx="10"/>
          </p:nvPr>
        </p:nvSpPr>
        <p:spPr/>
        <p:txBody>
          <a:bodyPr/>
          <a:lstStyle/>
          <a:p>
            <a:fld id="{BC3A2ED3-A378-47AE-9554-9DC1F48D50CB}" type="datetimeFigureOut">
              <a:rPr lang="es-CO" smtClean="0"/>
              <a:t>27/04/2023</a:t>
            </a:fld>
            <a:endParaRPr lang="es-CO"/>
          </a:p>
        </p:txBody>
      </p:sp>
      <p:sp>
        <p:nvSpPr>
          <p:cNvPr id="4" name="3 Marcador de pie de página"/>
          <p:cNvSpPr>
            <a:spLocks noGrp="1"/>
          </p:cNvSpPr>
          <p:nvPr>
            <p:ph type="ftr" sz="quarter" idx="11"/>
          </p:nvPr>
        </p:nvSpPr>
        <p:spPr/>
        <p:txBody>
          <a:bodyPr/>
          <a:lstStyle/>
          <a:p>
            <a:endParaRPr lang="es-CO"/>
          </a:p>
        </p:txBody>
      </p:sp>
      <p:sp>
        <p:nvSpPr>
          <p:cNvPr id="5" name="4 Marcador de número de diapositiva"/>
          <p:cNvSpPr>
            <a:spLocks noGrp="1"/>
          </p:cNvSpPr>
          <p:nvPr>
            <p:ph type="sldNum" sz="quarter" idx="12"/>
          </p:nvPr>
        </p:nvSpPr>
        <p:spPr/>
        <p:txBody>
          <a:bodyPr/>
          <a:lstStyle/>
          <a:p>
            <a:fld id="{B0198BB4-202C-4CB3-B1BB-DF05338FBFDC}" type="slidenum">
              <a:rPr lang="es-CO" smtClean="0"/>
              <a:t>‹Nº›</a:t>
            </a:fld>
            <a:endParaRPr lang="es-C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BC3A2ED3-A378-47AE-9554-9DC1F48D50CB}" type="datetimeFigureOut">
              <a:rPr lang="es-CO" smtClean="0"/>
              <a:t>27/04/2023</a:t>
            </a:fld>
            <a:endParaRPr lang="es-CO"/>
          </a:p>
        </p:txBody>
      </p:sp>
      <p:sp>
        <p:nvSpPr>
          <p:cNvPr id="3" name="2 Marcador de pie de página"/>
          <p:cNvSpPr>
            <a:spLocks noGrp="1"/>
          </p:cNvSpPr>
          <p:nvPr>
            <p:ph type="ftr" sz="quarter" idx="11"/>
          </p:nvPr>
        </p:nvSpPr>
        <p:spPr/>
        <p:txBody>
          <a:bodyPr/>
          <a:lstStyle/>
          <a:p>
            <a:endParaRPr lang="es-CO"/>
          </a:p>
        </p:txBody>
      </p:sp>
      <p:sp>
        <p:nvSpPr>
          <p:cNvPr id="4" name="3 Marcador de número de diapositiva"/>
          <p:cNvSpPr>
            <a:spLocks noGrp="1"/>
          </p:cNvSpPr>
          <p:nvPr>
            <p:ph type="sldNum" sz="quarter" idx="12"/>
          </p:nvPr>
        </p:nvSpPr>
        <p:spPr/>
        <p:txBody>
          <a:bodyPr/>
          <a:lstStyle/>
          <a:p>
            <a:fld id="{B0198BB4-202C-4CB3-B1BB-DF05338FBFDC}" type="slidenum">
              <a:rPr lang="es-CO" smtClean="0"/>
              <a:t>‹Nº›</a:t>
            </a:fld>
            <a:endParaRPr lang="es-C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es-ES"/>
              <a:t>Haga clic para modificar el estilo de título del patrón</a:t>
            </a:r>
            <a:endParaRPr kumimoji="0" lang="en-US"/>
          </a:p>
        </p:txBody>
      </p:sp>
      <p:sp>
        <p:nvSpPr>
          <p:cNvPr id="3" name="2 Marcador de texto"/>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s-ES"/>
              <a:t>Haga clic para modificar el estilo de texto del patrón</a:t>
            </a:r>
          </a:p>
        </p:txBody>
      </p:sp>
      <p:sp>
        <p:nvSpPr>
          <p:cNvPr id="4" name="3 Marcador de contenido"/>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5" name="4 Marcador de fecha"/>
          <p:cNvSpPr>
            <a:spLocks noGrp="1"/>
          </p:cNvSpPr>
          <p:nvPr>
            <p:ph type="dt" sz="half" idx="10"/>
          </p:nvPr>
        </p:nvSpPr>
        <p:spPr/>
        <p:txBody>
          <a:bodyPr/>
          <a:lstStyle/>
          <a:p>
            <a:fld id="{BC3A2ED3-A378-47AE-9554-9DC1F48D50CB}" type="datetimeFigureOut">
              <a:rPr lang="es-CO" smtClean="0"/>
              <a:t>27/04/2023</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B0198BB4-202C-4CB3-B1BB-DF05338FBFDC}" type="slidenum">
              <a:rPr lang="es-CO" smtClean="0"/>
              <a:t>‹Nº›</a:t>
            </a:fld>
            <a:endParaRPr lang="es-CO"/>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kumimoji="0" lang="es-ES"/>
              <a:t>Haga clic para modificar el estilo de título del patrón</a:t>
            </a:r>
            <a:endParaRPr kumimoji="0" lang="en-US"/>
          </a:p>
        </p:txBody>
      </p:sp>
      <p:sp>
        <p:nvSpPr>
          <p:cNvPr id="3" name="2 Marcador de posición de imagen"/>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es-ES">
                <a:solidFill>
                  <a:schemeClr val="lt1"/>
                </a:solidFill>
                <a:latin typeface="+mn-lt"/>
                <a:ea typeface="+mn-ea"/>
                <a:cs typeface="+mn-cs"/>
              </a:rPr>
              <a:t>Haga clic en el icono para agregar una imagen</a:t>
            </a:r>
            <a:endParaRPr kumimoji="0" lang="en-US" dirty="0">
              <a:solidFill>
                <a:schemeClr val="lt1"/>
              </a:solidFill>
              <a:latin typeface="+mn-lt"/>
              <a:ea typeface="+mn-ea"/>
              <a:cs typeface="+mn-cs"/>
            </a:endParaRPr>
          </a:p>
        </p:txBody>
      </p:sp>
      <p:sp>
        <p:nvSpPr>
          <p:cNvPr id="4" name="3 Marcador de texto"/>
          <p:cNvSpPr>
            <a:spLocks noGrp="1"/>
          </p:cNvSpPr>
          <p:nvPr>
            <p:ph type="body" sz="half" idx="2"/>
          </p:nvPr>
        </p:nvSpPr>
        <p:spPr>
          <a:xfrm>
            <a:off x="1828800" y="1166787"/>
            <a:ext cx="54864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es-ES"/>
              <a:t>Haga clic para modificar el estilo de texto del patrón</a:t>
            </a:r>
          </a:p>
        </p:txBody>
      </p:sp>
      <p:sp>
        <p:nvSpPr>
          <p:cNvPr id="5" name="4 Marcador de fecha"/>
          <p:cNvSpPr>
            <a:spLocks noGrp="1"/>
          </p:cNvSpPr>
          <p:nvPr>
            <p:ph type="dt" sz="half" idx="10"/>
          </p:nvPr>
        </p:nvSpPr>
        <p:spPr/>
        <p:txBody>
          <a:bodyPr/>
          <a:lstStyle/>
          <a:p>
            <a:fld id="{BC3A2ED3-A378-47AE-9554-9DC1F48D50CB}" type="datetimeFigureOut">
              <a:rPr lang="es-CO" smtClean="0"/>
              <a:t>27/04/2023</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B0198BB4-202C-4CB3-B1BB-DF05338FBFDC}" type="slidenum">
              <a:rPr lang="es-CO" smtClean="0"/>
              <a:t>‹Nº›</a:t>
            </a:fld>
            <a:endParaRPr lang="es-C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BC3A2ED3-A378-47AE-9554-9DC1F48D50CB}" type="datetimeFigureOut">
              <a:rPr lang="es-CO" smtClean="0"/>
              <a:t>27/04/2023</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B0198BB4-202C-4CB3-B1BB-DF05338FBFDC}" type="slidenum">
              <a:rPr lang="es-CO" smtClean="0"/>
              <a:t>‹Nº›</a:t>
            </a:fld>
            <a:endParaRPr lang="es-C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kumimoji="0" lang="es-ES"/>
              <a:t>Haga clic para modificar el estilo de título del patrón</a:t>
            </a:r>
            <a:endParaRPr kumimoji="0"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BC3A2ED3-A378-47AE-9554-9DC1F48D50CB}" type="datetimeFigureOut">
              <a:rPr lang="es-CO" smtClean="0"/>
              <a:t>27/04/2023</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B0198BB4-202C-4CB3-B1BB-DF05338FBFDC}" type="slidenum">
              <a:rPr lang="es-CO" smtClean="0"/>
              <a:t>‹Nº›</a:t>
            </a:fld>
            <a:endParaRPr lang="es-CO"/>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21 Marcador de título"/>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es-ES"/>
              <a:t>Haga clic para modificar el estilo de título del patrón</a:t>
            </a:r>
            <a:endParaRPr kumimoji="0" lang="en-US"/>
          </a:p>
        </p:txBody>
      </p:sp>
      <p:sp>
        <p:nvSpPr>
          <p:cNvPr id="13" name="12 Marcador de texto"/>
          <p:cNvSpPr>
            <a:spLocks noGrp="1"/>
          </p:cNvSpPr>
          <p:nvPr>
            <p:ph type="body" idx="1"/>
          </p:nvPr>
        </p:nvSpPr>
        <p:spPr>
          <a:xfrm>
            <a:off x="457200" y="1600200"/>
            <a:ext cx="8229600" cy="4709160"/>
          </a:xfrm>
          <a:prstGeom prst="rect">
            <a:avLst/>
          </a:prstGeom>
        </p:spPr>
        <p:txBody>
          <a:bodyPr vert="horz">
            <a:normAutofit/>
          </a:bodyPr>
          <a:lstStyle/>
          <a:p>
            <a:pPr lvl="0" eaLnBrk="1" latinLnBrk="0" hangingPunct="1"/>
            <a:r>
              <a:rPr kumimoji="0" lang="es-ES"/>
              <a:t>Haga clic para modificar el estilo de texto del patrón</a:t>
            </a:r>
          </a:p>
          <a:p>
            <a:pPr lvl="1" eaLnBrk="1" latinLnBrk="0" hangingPunct="1"/>
            <a:r>
              <a:rPr kumimoji="0" lang="es-ES"/>
              <a:t>Segundo nivel</a:t>
            </a:r>
          </a:p>
          <a:p>
            <a:pPr lvl="2" eaLnBrk="1" latinLnBrk="0" hangingPunct="1"/>
            <a:r>
              <a:rPr kumimoji="0" lang="es-ES"/>
              <a:t>Tercer nivel</a:t>
            </a:r>
          </a:p>
          <a:p>
            <a:pPr lvl="3" eaLnBrk="1" latinLnBrk="0" hangingPunct="1"/>
            <a:r>
              <a:rPr kumimoji="0" lang="es-ES"/>
              <a:t>Cuarto nivel</a:t>
            </a:r>
          </a:p>
          <a:p>
            <a:pPr lvl="4" eaLnBrk="1" latinLnBrk="0" hangingPunct="1"/>
            <a:r>
              <a:rPr kumimoji="0" lang="es-ES"/>
              <a:t>Quinto nivel</a:t>
            </a:r>
            <a:endParaRPr kumimoji="0" lang="en-US"/>
          </a:p>
        </p:txBody>
      </p:sp>
      <p:sp>
        <p:nvSpPr>
          <p:cNvPr id="14" name="13 Marcador de fecha"/>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BC3A2ED3-A378-47AE-9554-9DC1F48D50CB}" type="datetimeFigureOut">
              <a:rPr lang="es-CO" smtClean="0"/>
              <a:t>27/04/2023</a:t>
            </a:fld>
            <a:endParaRPr lang="es-CO"/>
          </a:p>
        </p:txBody>
      </p:sp>
      <p:sp>
        <p:nvSpPr>
          <p:cNvPr id="3" name="2 Marcador de pie de página"/>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es-CO"/>
          </a:p>
        </p:txBody>
      </p:sp>
      <p:sp>
        <p:nvSpPr>
          <p:cNvPr id="23" name="22 Marcador de número de diapositiva"/>
          <p:cNvSpPr>
            <a:spLocks noGrp="1"/>
          </p:cNvSpPr>
          <p:nvPr>
            <p:ph type="sldNum" sz="quarter" idx="4"/>
          </p:nvPr>
        </p:nvSpPr>
        <p:spPr>
          <a:xfrm>
            <a:off x="7924800" y="6416675"/>
            <a:ext cx="762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B0198BB4-202C-4CB3-B1BB-DF05338FBFDC}" type="slidenum">
              <a:rPr lang="es-CO" smtClean="0"/>
              <a:t>‹Nº›</a:t>
            </a:fld>
            <a:endParaRPr lang="es-CO"/>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CO" dirty="0"/>
              <a:t>Criptografía</a:t>
            </a:r>
          </a:p>
        </p:txBody>
      </p:sp>
    </p:spTree>
    <p:extLst>
      <p:ext uri="{BB962C8B-B14F-4D97-AF65-F5344CB8AC3E}">
        <p14:creationId xmlns:p14="http://schemas.microsoft.com/office/powerpoint/2010/main" val="30500360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CO" dirty="0"/>
              <a:t>Criptografía clásica</a:t>
            </a:r>
            <a:br>
              <a:rPr lang="es-CO" dirty="0"/>
            </a:br>
            <a:r>
              <a:rPr lang="es-CO" dirty="0"/>
              <a:t>primera etapa</a:t>
            </a:r>
          </a:p>
        </p:txBody>
      </p:sp>
      <p:sp>
        <p:nvSpPr>
          <p:cNvPr id="3" name="2 Marcador de contenido"/>
          <p:cNvSpPr>
            <a:spLocks noGrp="1"/>
          </p:cNvSpPr>
          <p:nvPr>
            <p:ph idx="1"/>
          </p:nvPr>
        </p:nvSpPr>
        <p:spPr/>
        <p:txBody>
          <a:bodyPr/>
          <a:lstStyle/>
          <a:p>
            <a:r>
              <a:rPr lang="es-CO" b="1" dirty="0"/>
              <a:t>Hace 4000 años, el primer criptograma:</a:t>
            </a:r>
          </a:p>
          <a:p>
            <a:pPr marL="137160" indent="0">
              <a:buNone/>
            </a:pPr>
            <a:br>
              <a:rPr lang="es-CO" dirty="0"/>
            </a:br>
            <a:r>
              <a:rPr lang="es-CO" dirty="0"/>
              <a:t>Se cree que la historia de la criptografía comienza, más o menos hace 4000 años, por el año 1900 </a:t>
            </a:r>
            <a:r>
              <a:rPr lang="es-CO" dirty="0" err="1"/>
              <a:t>a.c.</a:t>
            </a:r>
            <a:r>
              <a:rPr lang="es-CO" dirty="0"/>
              <a:t> con un escrito de 20 columnas con 222 inscripciones sobre la tumba egipcia de un noble llamado </a:t>
            </a:r>
            <a:r>
              <a:rPr lang="es-CO" dirty="0" err="1"/>
              <a:t>Khnumhotep</a:t>
            </a:r>
            <a:r>
              <a:rPr lang="es-CO" dirty="0"/>
              <a:t> II, en la ciudad de </a:t>
            </a:r>
            <a:r>
              <a:rPr lang="es-CO" dirty="0" err="1"/>
              <a:t>Menet</a:t>
            </a:r>
            <a:r>
              <a:rPr lang="es-CO" dirty="0"/>
              <a:t> </a:t>
            </a:r>
            <a:r>
              <a:rPr lang="es-CO" dirty="0" err="1"/>
              <a:t>Khufu</a:t>
            </a:r>
            <a:r>
              <a:rPr lang="es-CO" dirty="0"/>
              <a:t> cerca del Nilo. </a:t>
            </a:r>
          </a:p>
          <a:p>
            <a:endParaRPr lang="es-CO" dirty="0"/>
          </a:p>
        </p:txBody>
      </p:sp>
    </p:spTree>
    <p:extLst>
      <p:ext uri="{BB962C8B-B14F-4D97-AF65-F5344CB8AC3E}">
        <p14:creationId xmlns:p14="http://schemas.microsoft.com/office/powerpoint/2010/main" val="2958497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03648" y="1340768"/>
            <a:ext cx="6264696" cy="50246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410578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9108" y="1196752"/>
            <a:ext cx="8725783" cy="44644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426605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a:bodyPr>
          <a:lstStyle/>
          <a:p>
            <a:r>
              <a:rPr lang="es-CO" b="1" dirty="0"/>
              <a:t>487 </a:t>
            </a:r>
            <a:r>
              <a:rPr lang="es-CO" b="1" dirty="0" err="1"/>
              <a:t>a.c.</a:t>
            </a:r>
            <a:r>
              <a:rPr lang="es-CO" b="1" dirty="0"/>
              <a:t>, </a:t>
            </a:r>
            <a:r>
              <a:rPr lang="es-CO" b="1" dirty="0" err="1"/>
              <a:t>Skytale</a:t>
            </a:r>
            <a:r>
              <a:rPr lang="es-CO" b="1" dirty="0"/>
              <a:t>, el primer dispositivo criptográfico:</a:t>
            </a:r>
          </a:p>
          <a:p>
            <a:pPr marL="137160" indent="0">
              <a:buNone/>
            </a:pPr>
            <a:br>
              <a:rPr lang="es-CO" dirty="0"/>
            </a:br>
            <a:r>
              <a:rPr lang="es-CO" sz="2400" dirty="0"/>
              <a:t>Por el año 487, los Espartanos de Gracia crearon la primera máquina de cifrado, llamada "</a:t>
            </a:r>
            <a:r>
              <a:rPr lang="es-CO" sz="2400" dirty="0" err="1"/>
              <a:t>Skytale</a:t>
            </a:r>
            <a:r>
              <a:rPr lang="es-CO" sz="2400" dirty="0"/>
              <a:t>", consistía en una pieza de madera y una cinta de cuero que era enrollada en la madera entonces se escribía el mensaje secreto. El mensaje era transmitido solo por la cinta usada como cinturón, posteriormente para descifrar el mensaje es necesario saber el diámetro de la madera.</a:t>
            </a:r>
          </a:p>
          <a:p>
            <a:endParaRPr lang="es-CO" dirty="0"/>
          </a:p>
        </p:txBody>
      </p:sp>
    </p:spTree>
    <p:extLst>
      <p:ext uri="{BB962C8B-B14F-4D97-AF65-F5344CB8AC3E}">
        <p14:creationId xmlns:p14="http://schemas.microsoft.com/office/powerpoint/2010/main" val="1028175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1671637"/>
            <a:ext cx="6010275" cy="3514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04672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a:bodyPr>
          <a:lstStyle/>
          <a:p>
            <a:r>
              <a:rPr lang="es-CO" sz="2000" dirty="0"/>
              <a:t>Otra técnica de cifrado hecha por los griegos fue la siguiente tabla, llamada "</a:t>
            </a:r>
            <a:r>
              <a:rPr lang="es-CO" sz="2000" dirty="0" err="1"/>
              <a:t>Polybius</a:t>
            </a:r>
            <a:r>
              <a:rPr lang="es-CO" sz="2000" dirty="0"/>
              <a:t>", consistía en asociar a cada letra un par de números enteros, por lo tanto los mensajes cifrados, la técnica fue primeramente pensada en operar solo como medio de comunicación telegráfica.</a:t>
            </a:r>
          </a:p>
          <a:p>
            <a:endParaRPr lang="es-CO" sz="2000" dirty="0"/>
          </a:p>
          <a:p>
            <a:r>
              <a:rPr lang="es-CO" sz="2000" dirty="0" err="1"/>
              <a:t>Ejm</a:t>
            </a:r>
            <a:r>
              <a:rPr lang="es-CO" sz="2000" dirty="0"/>
              <a:t>: azul: 11554531</a:t>
            </a:r>
          </a:p>
          <a:p>
            <a:endParaRPr lang="es-CO" sz="2000"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6016" y="3212976"/>
            <a:ext cx="2664296" cy="33700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195484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r>
              <a:rPr lang="es-CO" sz="2400" b="1" dirty="0"/>
              <a:t>1466 </a:t>
            </a:r>
            <a:r>
              <a:rPr lang="es-CO" sz="2400" b="1" dirty="0" err="1"/>
              <a:t>d.c.</a:t>
            </a:r>
            <a:r>
              <a:rPr lang="es-CO" sz="2400" b="1" dirty="0"/>
              <a:t>, el primer disco para cifrar:</a:t>
            </a:r>
            <a:br>
              <a:rPr lang="es-CO" sz="2400" dirty="0"/>
            </a:br>
            <a:r>
              <a:rPr lang="es-CO" sz="2400" dirty="0"/>
              <a:t>1466, </a:t>
            </a:r>
            <a:r>
              <a:rPr lang="es-CO" sz="2400" dirty="0" err="1"/>
              <a:t>Leon</a:t>
            </a:r>
            <a:r>
              <a:rPr lang="es-CO" sz="2400" dirty="0"/>
              <a:t> Battista Albertini, inventó un cifrador con dos discos, uno exterior y uno interior, el disco exterior contenía el alfabeto latín,  el disco se podía </a:t>
            </a:r>
            <a:r>
              <a:rPr lang="es-CO" sz="2400"/>
              <a:t>mover, el </a:t>
            </a:r>
            <a:r>
              <a:rPr lang="es-CO" sz="2400" dirty="0"/>
              <a:t>disco inferior contenía la "sustitución" del alfabeto</a:t>
            </a:r>
            <a:r>
              <a:rPr lang="es-CO" dirty="0"/>
              <a:t>. </a:t>
            </a:r>
          </a:p>
          <a:p>
            <a:pPr marL="137160" indent="0">
              <a:buNone/>
            </a:pPr>
            <a:endParaRPr lang="es-CO"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040" y="3284984"/>
            <a:ext cx="3296306" cy="3234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816338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fontScale="77500" lnSpcReduction="20000"/>
          </a:bodyPr>
          <a:lstStyle/>
          <a:p>
            <a:r>
              <a:rPr lang="es-CO" b="1" dirty="0"/>
              <a:t>1790 </a:t>
            </a:r>
            <a:r>
              <a:rPr lang="es-CO" b="1" dirty="0" err="1"/>
              <a:t>d.c.</a:t>
            </a:r>
            <a:r>
              <a:rPr lang="es-CO" b="1" dirty="0"/>
              <a:t>, el primer dispositivo manual-mecánico para cifrar:</a:t>
            </a:r>
          </a:p>
          <a:p>
            <a:pPr marL="137160" indent="0">
              <a:buNone/>
            </a:pPr>
            <a:br>
              <a:rPr lang="es-CO" dirty="0"/>
            </a:br>
            <a:br>
              <a:rPr lang="es-CO" dirty="0"/>
            </a:br>
            <a:r>
              <a:rPr lang="es-CO" dirty="0"/>
              <a:t>Entre los años de 1790 al 1800, Thomas Jefferson, inventó una máquina manual, que consistía de un conjunto de discos que giraban alrededor de un eje, en los discos se grababa el alfabeto de manera aleatoria. Entonces para cifrar un mensaje, bastaba con colocar los discos con algún orden establecido (la llave), alinear el mensaje y tomar como mensaje cifrado cualquiera de las otras letras alineadas. Ese sistema fue mejorado por </a:t>
            </a:r>
            <a:r>
              <a:rPr lang="es-CO" dirty="0" err="1"/>
              <a:t>Etienne</a:t>
            </a:r>
            <a:r>
              <a:rPr lang="es-CO" dirty="0"/>
              <a:t> </a:t>
            </a:r>
            <a:r>
              <a:rPr lang="es-CO" dirty="0" err="1"/>
              <a:t>Bazeries</a:t>
            </a:r>
            <a:r>
              <a:rPr lang="es-CO" dirty="0"/>
              <a:t> (1901), que posteriormente fue base para el dispositivo manual M-94/CSP 488 usado por el ejército y la marina de los Estados Unidos de Norteamérica (1914).</a:t>
            </a:r>
            <a:br>
              <a:rPr lang="es-CO" dirty="0"/>
            </a:br>
            <a:endParaRPr lang="es-CO" dirty="0"/>
          </a:p>
          <a:p>
            <a:endParaRPr lang="es-CO" dirty="0"/>
          </a:p>
        </p:txBody>
      </p:sp>
    </p:spTree>
    <p:extLst>
      <p:ext uri="{BB962C8B-B14F-4D97-AF65-F5344CB8AC3E}">
        <p14:creationId xmlns:p14="http://schemas.microsoft.com/office/powerpoint/2010/main" val="29940207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1196752"/>
            <a:ext cx="6336704" cy="42502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15605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Segunda etapa</a:t>
            </a:r>
          </a:p>
        </p:txBody>
      </p:sp>
      <p:sp>
        <p:nvSpPr>
          <p:cNvPr id="3" name="2 Marcador de contenido"/>
          <p:cNvSpPr>
            <a:spLocks noGrp="1"/>
          </p:cNvSpPr>
          <p:nvPr>
            <p:ph idx="1"/>
          </p:nvPr>
        </p:nvSpPr>
        <p:spPr/>
        <p:txBody>
          <a:bodyPr/>
          <a:lstStyle/>
          <a:p>
            <a:r>
              <a:rPr lang="es-CO" b="1" dirty="0"/>
              <a:t>1920 </a:t>
            </a:r>
            <a:r>
              <a:rPr lang="es-CO" b="1" dirty="0" err="1"/>
              <a:t>d.c.</a:t>
            </a:r>
            <a:endParaRPr lang="es-CO" b="1" dirty="0"/>
          </a:p>
          <a:p>
            <a:pPr marL="137160" indent="0">
              <a:buNone/>
            </a:pPr>
            <a:r>
              <a:rPr lang="es-CO" dirty="0"/>
              <a:t>La segunda etapa de la criptografía perteneció a las máquinas </a:t>
            </a:r>
            <a:r>
              <a:rPr lang="es-CO" dirty="0" err="1"/>
              <a:t>cifradoras</a:t>
            </a:r>
            <a:r>
              <a:rPr lang="es-CO" dirty="0"/>
              <a:t>. Existe un número considerable de este tipo de máquinas.</a:t>
            </a:r>
          </a:p>
          <a:p>
            <a:endParaRPr lang="es-CO" dirty="0"/>
          </a:p>
        </p:txBody>
      </p:sp>
    </p:spTree>
    <p:extLst>
      <p:ext uri="{BB962C8B-B14F-4D97-AF65-F5344CB8AC3E}">
        <p14:creationId xmlns:p14="http://schemas.microsoft.com/office/powerpoint/2010/main" val="18042092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fontScale="77500" lnSpcReduction="20000"/>
          </a:bodyPr>
          <a:lstStyle/>
          <a:p>
            <a:r>
              <a:rPr lang="es-CO" dirty="0"/>
              <a:t>Se cree que la primera máquina </a:t>
            </a:r>
            <a:r>
              <a:rPr lang="es-CO" dirty="0" err="1"/>
              <a:t>cifradora</a:t>
            </a:r>
            <a:r>
              <a:rPr lang="es-CO" dirty="0"/>
              <a:t> fue inventada por dos Holandeses, </a:t>
            </a:r>
            <a:r>
              <a:rPr lang="es-CO" dirty="0" err="1"/>
              <a:t>Theo</a:t>
            </a:r>
            <a:r>
              <a:rPr lang="es-CO" dirty="0"/>
              <a:t> A. van </a:t>
            </a:r>
            <a:r>
              <a:rPr lang="es-CO" dirty="0" err="1"/>
              <a:t>Hengel</a:t>
            </a:r>
            <a:r>
              <a:rPr lang="es-CO" dirty="0"/>
              <a:t> y R. P. C. </a:t>
            </a:r>
            <a:r>
              <a:rPr lang="es-CO" dirty="0" err="1"/>
              <a:t>Spengler</a:t>
            </a:r>
            <a:r>
              <a:rPr lang="es-CO" dirty="0"/>
              <a:t>.</a:t>
            </a:r>
          </a:p>
          <a:p>
            <a:r>
              <a:rPr lang="es-CO" dirty="0"/>
              <a:t>1916, La máquina de </a:t>
            </a:r>
            <a:r>
              <a:rPr lang="es-CO" dirty="0" err="1"/>
              <a:t>Arvid</a:t>
            </a:r>
            <a:r>
              <a:rPr lang="es-CO" dirty="0"/>
              <a:t> Gerhard </a:t>
            </a:r>
            <a:r>
              <a:rPr lang="es-CO" dirty="0" err="1"/>
              <a:t>Damm</a:t>
            </a:r>
            <a:r>
              <a:rPr lang="es-CO" dirty="0"/>
              <a:t> (patentada en Holanda),</a:t>
            </a:r>
          </a:p>
          <a:p>
            <a:r>
              <a:rPr lang="es-CO" dirty="0"/>
              <a:t>1917, La máquina de Edward </a:t>
            </a:r>
            <a:r>
              <a:rPr lang="es-CO" dirty="0" err="1"/>
              <a:t>Hebern</a:t>
            </a:r>
            <a:r>
              <a:rPr lang="es-CO" dirty="0"/>
              <a:t>, máquina que usaba un rotor.</a:t>
            </a:r>
          </a:p>
          <a:p>
            <a:r>
              <a:rPr lang="es-CO" dirty="0"/>
              <a:t>1919, La máquina de Hugo Koch (patentada en Holanda).</a:t>
            </a:r>
          </a:p>
          <a:p>
            <a:r>
              <a:rPr lang="es-CO" dirty="0"/>
              <a:t>La máquina de cifrar más famosa se llama ENIGMA, la primera versión se basa presumiblemente en la máquina de Arthur </a:t>
            </a:r>
            <a:r>
              <a:rPr lang="es-CO" dirty="0" err="1"/>
              <a:t>Scherbius</a:t>
            </a:r>
            <a:r>
              <a:rPr lang="es-CO" dirty="0"/>
              <a:t> patentada en 1918. Posteriormente se derivaron varias versiones más, </a:t>
            </a:r>
            <a:r>
              <a:rPr lang="es-CO" dirty="0" err="1"/>
              <a:t>paticularmente</a:t>
            </a:r>
            <a:r>
              <a:rPr lang="es-CO" dirty="0"/>
              <a:t> ENIGMA con 3 discos y con 5 discos. ENIGMA es la máquina más conocida</a:t>
            </a:r>
          </a:p>
          <a:p>
            <a:endParaRPr lang="es-CO" dirty="0"/>
          </a:p>
        </p:txBody>
      </p:sp>
    </p:spTree>
    <p:extLst>
      <p:ext uri="{BB962C8B-B14F-4D97-AF65-F5344CB8AC3E}">
        <p14:creationId xmlns:p14="http://schemas.microsoft.com/office/powerpoint/2010/main" val="5970995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fontScale="70000" lnSpcReduction="20000"/>
          </a:bodyPr>
          <a:lstStyle/>
          <a:p>
            <a:r>
              <a:rPr lang="es-CO" sz="2600" dirty="0"/>
              <a:t>SIGABA, máquina de cifrar muy similar a ENIGMA, usada por el ejército de los Estados Unidos durante la segunda guerra mundial.</a:t>
            </a:r>
          </a:p>
          <a:p>
            <a:r>
              <a:rPr lang="es-CO" sz="2600" dirty="0" err="1"/>
              <a:t>Typex</a:t>
            </a:r>
            <a:r>
              <a:rPr lang="es-CO" sz="2600" dirty="0"/>
              <a:t>, máquina de cifrar muy similar a ENIGMA, usada por el ejército Inglés durante la segunda guerra mundial.</a:t>
            </a:r>
          </a:p>
          <a:p>
            <a:r>
              <a:rPr lang="es-CO" sz="2600" dirty="0" err="1"/>
              <a:t>Combined</a:t>
            </a:r>
            <a:r>
              <a:rPr lang="es-CO" sz="2600" dirty="0"/>
              <a:t> </a:t>
            </a:r>
            <a:r>
              <a:rPr lang="es-CO" sz="2600" dirty="0" err="1"/>
              <a:t>Cipher</a:t>
            </a:r>
            <a:r>
              <a:rPr lang="es-CO" sz="2600" dirty="0"/>
              <a:t> Machine (CCM), máquina de cifrar muy similar a ENIGMA, usada por los aliados durante la segunda guerra mundial.</a:t>
            </a:r>
          </a:p>
          <a:p>
            <a:r>
              <a:rPr lang="es-CO" sz="2600" dirty="0"/>
              <a:t>XL-7, HX-63, de las últimas máquina de cifrar, más sofisticadas que ENIGMA creadas en los años 50s.</a:t>
            </a:r>
          </a:p>
          <a:p>
            <a:r>
              <a:rPr lang="es-CO" sz="2600" dirty="0"/>
              <a:t>OMI, M-125, de las últimas máquina de cifrar, más sofisticadas que ENIGMA creadas en los años 60s.</a:t>
            </a:r>
          </a:p>
          <a:p>
            <a:r>
              <a:rPr lang="es-CO" sz="2600" dirty="0"/>
              <a:t>OH-4605 , </a:t>
            </a:r>
            <a:r>
              <a:rPr lang="es-CO" sz="2600" dirty="0" err="1"/>
              <a:t>Gretacoder</a:t>
            </a:r>
            <a:r>
              <a:rPr lang="es-CO" sz="2600" dirty="0"/>
              <a:t> 805, HC-520, KL-51, MK-85C, de las últimas máquina de cifrar, en los años60s y 80s, algunas ya incluían circuitos electrónicos y programas de </a:t>
            </a:r>
            <a:r>
              <a:rPr lang="es-CO" sz="2600" dirty="0" err="1"/>
              <a:t>comuputadora</a:t>
            </a:r>
            <a:r>
              <a:rPr lang="es-CO" sz="2600" dirty="0"/>
              <a:t>.</a:t>
            </a:r>
          </a:p>
          <a:p>
            <a:endParaRPr lang="es-CO" sz="2600" dirty="0"/>
          </a:p>
          <a:p>
            <a:pPr marL="137160" indent="0">
              <a:buNone/>
            </a:pPr>
            <a:r>
              <a:rPr lang="es-CO" dirty="0"/>
              <a:t>Las máquinas de cifrado fueron desapareciendo entre los años 60 y 70. Es entonces apenas el comienzo de la época de oro de la criptografía con la invención de la criptografía de clave pública en 1974.</a:t>
            </a:r>
          </a:p>
        </p:txBody>
      </p:sp>
    </p:spTree>
    <p:extLst>
      <p:ext uri="{BB962C8B-B14F-4D97-AF65-F5344CB8AC3E}">
        <p14:creationId xmlns:p14="http://schemas.microsoft.com/office/powerpoint/2010/main" val="8451253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Tercera etapa</a:t>
            </a:r>
          </a:p>
        </p:txBody>
      </p:sp>
      <p:sp>
        <p:nvSpPr>
          <p:cNvPr id="3" name="2 Marcador de contenido"/>
          <p:cNvSpPr>
            <a:spLocks noGrp="1"/>
          </p:cNvSpPr>
          <p:nvPr>
            <p:ph idx="1"/>
          </p:nvPr>
        </p:nvSpPr>
        <p:spPr/>
        <p:txBody>
          <a:bodyPr>
            <a:normAutofit fontScale="47500" lnSpcReduction="20000"/>
          </a:bodyPr>
          <a:lstStyle/>
          <a:p>
            <a:r>
              <a:rPr lang="es-CO" sz="3300" dirty="0"/>
              <a:t>1976, invención del algoritmo simétrico DES (Data </a:t>
            </a:r>
            <a:r>
              <a:rPr lang="es-CO" sz="3300" dirty="0" err="1"/>
              <a:t>Encryption</a:t>
            </a:r>
            <a:r>
              <a:rPr lang="es-CO" sz="3300" dirty="0"/>
              <a:t> Standard).</a:t>
            </a:r>
          </a:p>
          <a:p>
            <a:r>
              <a:rPr lang="es-CO" sz="3300" dirty="0"/>
              <a:t>1976, </a:t>
            </a:r>
            <a:r>
              <a:rPr lang="es-CO" sz="3300" dirty="0" err="1"/>
              <a:t>Diffie-Hellman</a:t>
            </a:r>
            <a:r>
              <a:rPr lang="es-CO" sz="3300" dirty="0"/>
              <a:t>, inventan un esquema de intercambio de claves basada en el Problema del Logaritmo Discreto, dando como nacimiento a la criptografía de clave pública.</a:t>
            </a:r>
          </a:p>
          <a:p>
            <a:r>
              <a:rPr lang="es-CO" sz="3300" dirty="0"/>
              <a:t>1977 Ron Rivest, </a:t>
            </a:r>
            <a:r>
              <a:rPr lang="es-CO" sz="3300" dirty="0" err="1"/>
              <a:t>Adi</a:t>
            </a:r>
            <a:r>
              <a:rPr lang="es-CO" sz="3300" dirty="0"/>
              <a:t> Shamir y </a:t>
            </a:r>
            <a:r>
              <a:rPr lang="es-CO" sz="3300" dirty="0" err="1"/>
              <a:t>Len</a:t>
            </a:r>
            <a:r>
              <a:rPr lang="es-CO" sz="3300" dirty="0"/>
              <a:t> Adleman, inventan el sistema RSA, para intercambio de claves y firma digital basado en el Problema de la Factorización Entera.</a:t>
            </a:r>
          </a:p>
          <a:p>
            <a:r>
              <a:rPr lang="es-CO" sz="3300" dirty="0"/>
              <a:t>1985, N. </a:t>
            </a:r>
            <a:r>
              <a:rPr lang="es-CO" sz="3300" dirty="0" err="1"/>
              <a:t>Koblitz</a:t>
            </a:r>
            <a:r>
              <a:rPr lang="es-CO" sz="3300" dirty="0"/>
              <a:t> y V. Miller introducen las curvas elípticas en la criptografía de clave pública, el mayor atractivo de esto, es la reducción de la longitud de las claves de 1024 bits a 160.</a:t>
            </a:r>
          </a:p>
          <a:p>
            <a:r>
              <a:rPr lang="es-CO" sz="3300" dirty="0"/>
              <a:t>1989, N. </a:t>
            </a:r>
            <a:r>
              <a:rPr lang="es-CO" sz="3300" dirty="0" err="1"/>
              <a:t>Koblitz</a:t>
            </a:r>
            <a:r>
              <a:rPr lang="es-CO" sz="3300" dirty="0"/>
              <a:t>, de manera natural propone el uso de las curvas </a:t>
            </a:r>
            <a:r>
              <a:rPr lang="es-CO" sz="3300" dirty="0" err="1"/>
              <a:t>hiperelípticas</a:t>
            </a:r>
            <a:r>
              <a:rPr lang="es-CO" sz="3300" dirty="0"/>
              <a:t> en el uso de la criptografía de clave pública.</a:t>
            </a:r>
          </a:p>
          <a:p>
            <a:r>
              <a:rPr lang="es-CO" sz="3300" dirty="0"/>
              <a:t>1996, J. </a:t>
            </a:r>
            <a:r>
              <a:rPr lang="es-CO" sz="3300" dirty="0" err="1"/>
              <a:t>Hoffstein</a:t>
            </a:r>
            <a:r>
              <a:rPr lang="es-CO" sz="3300" dirty="0"/>
              <a:t>, </a:t>
            </a:r>
            <a:r>
              <a:rPr lang="es-CO" sz="3300" dirty="0" err="1"/>
              <a:t>J.Pipher</a:t>
            </a:r>
            <a:r>
              <a:rPr lang="es-CO" sz="3300" dirty="0"/>
              <a:t> y J.H. </a:t>
            </a:r>
            <a:r>
              <a:rPr lang="es-CO" sz="3300" dirty="0" err="1"/>
              <a:t>Silverman</a:t>
            </a:r>
            <a:r>
              <a:rPr lang="es-CO" sz="3300" dirty="0"/>
              <a:t> inventan el sistema NTRU basado en retículas y es inmune por el momento a las computadoras cuánticas.</a:t>
            </a:r>
          </a:p>
          <a:p>
            <a:r>
              <a:rPr lang="es-CO" sz="3300" dirty="0"/>
              <a:t>2001, </a:t>
            </a:r>
            <a:r>
              <a:rPr lang="es-CO" sz="3300" dirty="0" err="1"/>
              <a:t>Boneh</a:t>
            </a:r>
            <a:r>
              <a:rPr lang="es-CO" sz="3300" dirty="0"/>
              <a:t> y Franklin inventan la criptografía bilineal, poniendo en práctica sistemas de cifrado basados en la identidad, es decir, que la clave pública puede ser cualquier cadena de caracteres.</a:t>
            </a:r>
          </a:p>
          <a:p>
            <a:pPr marL="137160" indent="0">
              <a:buNone/>
            </a:pPr>
            <a:br>
              <a:rPr lang="es-CO" dirty="0"/>
            </a:br>
            <a:endParaRPr lang="es-CO" dirty="0"/>
          </a:p>
        </p:txBody>
      </p:sp>
    </p:spTree>
    <p:extLst>
      <p:ext uri="{BB962C8B-B14F-4D97-AF65-F5344CB8AC3E}">
        <p14:creationId xmlns:p14="http://schemas.microsoft.com/office/powerpoint/2010/main" val="16540310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3568" y="836712"/>
            <a:ext cx="7724293" cy="55446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6259684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értice">
  <a:themeElements>
    <a:clrScheme name="Vértice">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Vértice">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Vértice">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105</TotalTime>
  <Words>929</Words>
  <Application>Microsoft Office PowerPoint</Application>
  <PresentationFormat>Presentación en pantalla (4:3)</PresentationFormat>
  <Paragraphs>37</Paragraphs>
  <Slides>15</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15</vt:i4>
      </vt:variant>
    </vt:vector>
  </HeadingPairs>
  <TitlesOfParts>
    <vt:vector size="21" baseType="lpstr">
      <vt:lpstr>Book Antiqua</vt:lpstr>
      <vt:lpstr>Lucida Sans</vt:lpstr>
      <vt:lpstr>Wingdings</vt:lpstr>
      <vt:lpstr>Wingdings 2</vt:lpstr>
      <vt:lpstr>Wingdings 3</vt:lpstr>
      <vt:lpstr>Vértice</vt:lpstr>
      <vt:lpstr>Criptografía</vt:lpstr>
      <vt:lpstr>Criptografía clásica primera etapa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Segunda etapa</vt:lpstr>
      <vt:lpstr>Presentación de PowerPoint</vt:lpstr>
      <vt:lpstr>Presentación de PowerPoint</vt:lpstr>
      <vt:lpstr>Tercera etapa</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Criptografia</dc:title>
  <dc:creator>Chucalito1</dc:creator>
  <cp:lastModifiedBy>Asus</cp:lastModifiedBy>
  <cp:revision>13</cp:revision>
  <dcterms:created xsi:type="dcterms:W3CDTF">2019-09-05T15:05:07Z</dcterms:created>
  <dcterms:modified xsi:type="dcterms:W3CDTF">2023-04-27T20:06:30Z</dcterms:modified>
</cp:coreProperties>
</file>