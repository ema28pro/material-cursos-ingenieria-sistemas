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61" r:id="rId4"/>
    <p:sldId id="257" r:id="rId5"/>
    <p:sldId id="258" r:id="rId6"/>
    <p:sldId id="259" r:id="rId7"/>
    <p:sldId id="264" r:id="rId8"/>
    <p:sldId id="262" r:id="rId9"/>
    <p:sldId id="263" r:id="rId10"/>
    <p:sldId id="265" r:id="rId11"/>
    <p:sldId id="266" r:id="rId12"/>
    <p:sldId id="267" r:id="rId13"/>
    <p:sldId id="268" r:id="rId14"/>
    <p:sldId id="269" r:id="rId15"/>
    <p:sldId id="270" r:id="rId16"/>
    <p:sldId id="271" r:id="rId17"/>
    <p:sldId id="272" r:id="rId18"/>
    <p:sldId id="274" r:id="rId19"/>
    <p:sldId id="273" r:id="rId20"/>
    <p:sldId id="276" r:id="rId21"/>
    <p:sldId id="275" r:id="rId22"/>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8" name="7 Título"/>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s-ES"/>
              <a:t>Haga clic para modificar el estilo de título del patrón</a:t>
            </a:r>
            <a:endParaRPr kumimoji="0" lang="en-US"/>
          </a:p>
        </p:txBody>
      </p:sp>
      <p:sp>
        <p:nvSpPr>
          <p:cNvPr id="28" name="27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17" name="16 Marcador de pie de página"/>
          <p:cNvSpPr>
            <a:spLocks noGrp="1"/>
          </p:cNvSpPr>
          <p:nvPr>
            <p:ph type="ftr" sz="quarter" idx="11"/>
          </p:nvPr>
        </p:nvSpPr>
        <p:spPr/>
        <p:txBody>
          <a:bodyPr/>
          <a:lstStyle/>
          <a:p>
            <a:endParaRPr lang="es-CO"/>
          </a:p>
        </p:txBody>
      </p:sp>
      <p:sp>
        <p:nvSpPr>
          <p:cNvPr id="29" name="28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
        <p:nvSpPr>
          <p:cNvPr id="9" name="8 Subtítulo"/>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3">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a:xfrm>
            <a:off x="7924800" y="6416675"/>
            <a:ext cx="762000" cy="365125"/>
          </a:xfrm>
        </p:spPr>
        <p:txBody>
          <a:bodyPr/>
          <a:lstStyle/>
          <a:p>
            <a:fld id="{78D157FE-2E6C-4DFB-AD05-1B529646F3BF}" type="slidenum">
              <a:rPr lang="es-CO" smtClean="0"/>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5" name="4 Marcador de contenido"/>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4" name="3 Marcador de contenido"/>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s-ES">
                <a:solidFill>
                  <a:schemeClr val="lt1"/>
                </a:solidFill>
                <a:latin typeface="+mn-lt"/>
                <a:ea typeface="+mn-ea"/>
                <a:cs typeface="+mn-cs"/>
              </a:rPr>
              <a:t>Haga clic en el icono para agregar una imagen</a:t>
            </a:r>
            <a:endParaRPr kumimoji="0" lang="en-US" dirty="0">
              <a:solidFill>
                <a:schemeClr val="lt1"/>
              </a:solidFill>
              <a:latin typeface="+mn-lt"/>
              <a:ea typeface="+mn-ea"/>
              <a:cs typeface="+mn-cs"/>
            </a:endParaRPr>
          </a:p>
        </p:txBody>
      </p:sp>
      <p:sp>
        <p:nvSpPr>
          <p:cNvPr id="4" name="3 Marcador de texto"/>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9597498F-9606-4FF5-9506-3B1A05086E91}" type="datetimeFigureOut">
              <a:rPr lang="es-CO" smtClean="0"/>
              <a:t>30/03/2023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78D157FE-2E6C-4DFB-AD05-1B529646F3BF}" type="slidenum">
              <a:rPr lang="es-CO" smtClean="0"/>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21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9597498F-9606-4FF5-9506-3B1A05086E91}" type="datetimeFigureOut">
              <a:rPr lang="es-CO" smtClean="0"/>
              <a:t>30/03/2023</a:t>
            </a:fld>
            <a:endParaRPr lang="es-CO"/>
          </a:p>
        </p:txBody>
      </p:sp>
      <p:sp>
        <p:nvSpPr>
          <p:cNvPr id="3" name="2 Marcador de pie de página"/>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s-CO"/>
          </a:p>
        </p:txBody>
      </p:sp>
      <p:sp>
        <p:nvSpPr>
          <p:cNvPr id="23" name="22 Marcador de número de diapositiva"/>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78D157FE-2E6C-4DFB-AD05-1B529646F3BF}" type="slidenum">
              <a:rPr lang="es-CO" smtClean="0"/>
              <a:t>‹Nº›</a:t>
            </a:fld>
            <a:endParaRPr lang="es-CO"/>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yottabyte.es/discreta/"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CO" dirty="0"/>
              <a:t>Grafos</a:t>
            </a:r>
          </a:p>
        </p:txBody>
      </p:sp>
      <p:sp>
        <p:nvSpPr>
          <p:cNvPr id="3" name="2 Subtítulo"/>
          <p:cNvSpPr>
            <a:spLocks noGrp="1"/>
          </p:cNvSpPr>
          <p:nvPr>
            <p:ph type="subTitle" idx="1"/>
          </p:nvPr>
        </p:nvSpPr>
        <p:spPr/>
        <p:txBody>
          <a:bodyPr/>
          <a:lstStyle/>
          <a:p>
            <a:r>
              <a:rPr lang="es-ES" dirty="0"/>
              <a:t>Clara </a:t>
            </a:r>
            <a:r>
              <a:rPr lang="es-ES"/>
              <a:t>Inés Vásquez E</a:t>
            </a:r>
            <a:endParaRPr lang="es-CO"/>
          </a:p>
        </p:txBody>
      </p:sp>
    </p:spTree>
    <p:extLst>
      <p:ext uri="{BB962C8B-B14F-4D97-AF65-F5344CB8AC3E}">
        <p14:creationId xmlns:p14="http://schemas.microsoft.com/office/powerpoint/2010/main" val="3486949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MX" altLang="es-CO" dirty="0"/>
              <a:t>Puentes de </a:t>
            </a:r>
            <a:r>
              <a:rPr lang="es-MX" altLang="es-CO" dirty="0" err="1"/>
              <a:t>Konigsberg</a:t>
            </a:r>
            <a:br>
              <a:rPr lang="es-MX" altLang="es-CO" dirty="0"/>
            </a:br>
            <a:endParaRPr lang="es-CO" dirty="0"/>
          </a:p>
        </p:txBody>
      </p:sp>
      <p:sp>
        <p:nvSpPr>
          <p:cNvPr id="3" name="2 Marcador de contenido"/>
          <p:cNvSpPr>
            <a:spLocks noGrp="1"/>
          </p:cNvSpPr>
          <p:nvPr>
            <p:ph idx="1"/>
          </p:nvPr>
        </p:nvSpPr>
        <p:spPr/>
        <p:txBody>
          <a:bodyPr/>
          <a:lstStyle/>
          <a:p>
            <a:pPr marL="137160" indent="0">
              <a:buNone/>
            </a:pPr>
            <a:r>
              <a:rPr lang="es-MX" altLang="es-CO" dirty="0"/>
              <a:t>El problema consiste en partir de cualquier lugar , caminar sobre cada puente exactamente una vez y luego regresar a la posición inicial</a:t>
            </a:r>
          </a:p>
          <a:p>
            <a:pPr marL="137160" indent="0">
              <a:buNone/>
            </a:pPr>
            <a:endParaRPr lang="es-CO" dirty="0"/>
          </a:p>
        </p:txBody>
      </p:sp>
      <p:pic>
        <p:nvPicPr>
          <p:cNvPr id="5" name="Picture 6" descr="Graf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859338" y="3068638"/>
            <a:ext cx="3457575" cy="2314575"/>
          </a:xfrm>
          <a:prstGeom prst="rect">
            <a:avLst/>
          </a:prstGeom>
          <a:noFill/>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3316286"/>
            <a:ext cx="3560412" cy="2344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2112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O"/>
          </a:p>
        </p:txBody>
      </p:sp>
      <p:sp>
        <p:nvSpPr>
          <p:cNvPr id="3" name="2 Marcador de contenido"/>
          <p:cNvSpPr>
            <a:spLocks noGrp="1"/>
          </p:cNvSpPr>
          <p:nvPr>
            <p:ph idx="1"/>
          </p:nvPr>
        </p:nvSpPr>
        <p:spPr/>
        <p:txBody>
          <a:bodyPr/>
          <a:lstStyle/>
          <a:p>
            <a:r>
              <a:rPr lang="es-CO" dirty="0"/>
              <a:t>Se tienen 3 casas independientes que desean conectarse a servicios de agua, luz y telefonía que son suministrados por diferentes empresas como se debe hacer la conexión si las líneas no pueden cruzarse ni intersectarse?</a:t>
            </a:r>
          </a:p>
        </p:txBody>
      </p:sp>
    </p:spTree>
    <p:extLst>
      <p:ext uri="{BB962C8B-B14F-4D97-AF65-F5344CB8AC3E}">
        <p14:creationId xmlns:p14="http://schemas.microsoft.com/office/powerpoint/2010/main" val="3097688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Grafo</a:t>
            </a:r>
          </a:p>
        </p:txBody>
      </p:sp>
      <p:sp>
        <p:nvSpPr>
          <p:cNvPr id="3" name="2 Marcador de contenido"/>
          <p:cNvSpPr>
            <a:spLocks noGrp="1"/>
          </p:cNvSpPr>
          <p:nvPr>
            <p:ph idx="1"/>
          </p:nvPr>
        </p:nvSpPr>
        <p:spPr/>
        <p:txBody>
          <a:bodyPr>
            <a:normAutofit fontScale="92500" lnSpcReduction="10000"/>
          </a:bodyPr>
          <a:lstStyle/>
          <a:p>
            <a:r>
              <a:rPr lang="es-ES_tradnl" altLang="es-CO" dirty="0"/>
              <a:t>Un grafo G es un par (V,E) donde V es un conjunto (llamado conjunto de vértices o nodos) y E un subconjunto de </a:t>
            </a:r>
            <a:r>
              <a:rPr lang="es-ES_tradnl" altLang="es-CO" dirty="0" err="1"/>
              <a:t>VxV</a:t>
            </a:r>
            <a:r>
              <a:rPr lang="es-ES_tradnl" altLang="es-CO" dirty="0"/>
              <a:t> (conjunto de aristas). </a:t>
            </a:r>
          </a:p>
          <a:p>
            <a:r>
              <a:rPr lang="es-ES_tradnl" altLang="es-CO" dirty="0"/>
              <a:t>Gráficamente representaremos los vértices por puntos y las aristas por líneas que los unen.</a:t>
            </a:r>
          </a:p>
          <a:p>
            <a:r>
              <a:rPr lang="es-ES_tradnl" altLang="es-CO" dirty="0"/>
              <a:t>Un vértice puede tener 0 o más aristas, pero toda arista debe unir exactamente 2 vértices.</a:t>
            </a:r>
          </a:p>
          <a:p>
            <a:r>
              <a:rPr lang="es-ES_tradnl" altLang="es-CO" dirty="0"/>
              <a:t>Llamaremos orden de un grafo a su número de vértices, |V|.</a:t>
            </a:r>
          </a:p>
          <a:p>
            <a:r>
              <a:rPr lang="es-ES_tradnl" altLang="es-CO" dirty="0"/>
              <a:t>Si |V| es finito se dice que el grafo es finito. </a:t>
            </a:r>
          </a:p>
          <a:p>
            <a:r>
              <a:rPr lang="es-ES_tradnl" altLang="es-CO" dirty="0"/>
              <a:t>Toda arista une dos vértices distintos</a:t>
            </a:r>
            <a:r>
              <a:rPr lang="es-ES" altLang="es-CO" dirty="0"/>
              <a:t> </a:t>
            </a:r>
            <a:endParaRPr lang="es-ES_tradnl" altLang="es-CO" dirty="0"/>
          </a:p>
          <a:p>
            <a:endParaRPr lang="es-ES" altLang="es-CO" dirty="0"/>
          </a:p>
          <a:p>
            <a:endParaRPr lang="es-CO" dirty="0"/>
          </a:p>
        </p:txBody>
      </p:sp>
    </p:spTree>
    <p:extLst>
      <p:ext uri="{BB962C8B-B14F-4D97-AF65-F5344CB8AC3E}">
        <p14:creationId xmlns:p14="http://schemas.microsoft.com/office/powerpoint/2010/main" val="3674842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Aristas y </a:t>
            </a:r>
            <a:r>
              <a:rPr lang="es-CO" dirty="0" err="1"/>
              <a:t>vertices</a:t>
            </a:r>
            <a:endParaRPr lang="es-CO" dirty="0"/>
          </a:p>
        </p:txBody>
      </p:sp>
      <p:sp>
        <p:nvSpPr>
          <p:cNvPr id="3" name="2 Marcador de contenido"/>
          <p:cNvSpPr>
            <a:spLocks noGrp="1"/>
          </p:cNvSpPr>
          <p:nvPr>
            <p:ph idx="1"/>
          </p:nvPr>
        </p:nvSpPr>
        <p:spPr/>
        <p:txBody>
          <a:bodyPr>
            <a:normAutofit lnSpcReduction="10000"/>
          </a:bodyPr>
          <a:lstStyle/>
          <a:p>
            <a:r>
              <a:rPr lang="es-ES_tradnl" altLang="es-CO" dirty="0"/>
              <a:t>Si la arista carece de dirección se denota indistintamente {</a:t>
            </a:r>
            <a:r>
              <a:rPr lang="es-ES_tradnl" altLang="es-CO" dirty="0" err="1"/>
              <a:t>a,b</a:t>
            </a:r>
            <a:r>
              <a:rPr lang="es-ES_tradnl" altLang="es-CO" dirty="0"/>
              <a:t>} o {</a:t>
            </a:r>
            <a:r>
              <a:rPr lang="es-ES_tradnl" altLang="es-CO" dirty="0" err="1"/>
              <a:t>b,a</a:t>
            </a:r>
            <a:r>
              <a:rPr lang="es-ES_tradnl" altLang="es-CO" dirty="0"/>
              <a:t>}, siendo a y b los vértices que une. </a:t>
            </a:r>
          </a:p>
          <a:p>
            <a:r>
              <a:rPr lang="es-ES_tradnl" altLang="es-CO" dirty="0"/>
              <a:t>Si {</a:t>
            </a:r>
            <a:r>
              <a:rPr lang="es-ES_tradnl" altLang="es-CO" dirty="0" err="1"/>
              <a:t>a,b</a:t>
            </a:r>
            <a:r>
              <a:rPr lang="es-ES_tradnl" altLang="es-CO" dirty="0"/>
              <a:t>} es una arista, a los vértices a y b se les llama sus extremos.</a:t>
            </a:r>
          </a:p>
          <a:p>
            <a:r>
              <a:rPr lang="es-ES_tradnl" altLang="es-CO" dirty="0"/>
              <a:t>Dos vértices v, w se dice que son adyacentes  si {</a:t>
            </a:r>
            <a:r>
              <a:rPr lang="es-ES_tradnl" altLang="es-CO" dirty="0" err="1"/>
              <a:t>v,w</a:t>
            </a:r>
            <a:r>
              <a:rPr lang="es-ES_tradnl" altLang="es-CO" dirty="0"/>
              <a:t>}</a:t>
            </a:r>
            <a:r>
              <a:rPr lang="es-ES_tradnl" altLang="es-CO" dirty="0">
                <a:sym typeface="Symbol" pitchFamily="18" charset="2"/>
              </a:rPr>
              <a:t></a:t>
            </a:r>
            <a:r>
              <a:rPr lang="es-ES_tradnl" altLang="es-CO" dirty="0"/>
              <a:t>V (o sea, si existe una arista entre ellos)</a:t>
            </a:r>
          </a:p>
          <a:p>
            <a:r>
              <a:rPr lang="es-ES_tradnl" altLang="es-CO" dirty="0"/>
              <a:t>Llamaremos grado de un vértice al número de aristas de las que es extremo. Se dice que un vértice es ‘par’ o ‘impar’ según lo sea su grado.	</a:t>
            </a:r>
            <a:r>
              <a:rPr lang="es-ES" altLang="es-CO" dirty="0"/>
              <a:t> </a:t>
            </a:r>
          </a:p>
          <a:p>
            <a:endParaRPr lang="es-CO" dirty="0"/>
          </a:p>
        </p:txBody>
      </p:sp>
    </p:spTree>
    <p:extLst>
      <p:ext uri="{BB962C8B-B14F-4D97-AF65-F5344CB8AC3E}">
        <p14:creationId xmlns:p14="http://schemas.microsoft.com/office/powerpoint/2010/main" val="3841134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Algunos tipos de grafos</a:t>
            </a:r>
          </a:p>
        </p:txBody>
      </p:sp>
      <p:sp>
        <p:nvSpPr>
          <p:cNvPr id="3" name="2 Marcador de contenido"/>
          <p:cNvSpPr>
            <a:spLocks noGrp="1"/>
          </p:cNvSpPr>
          <p:nvPr>
            <p:ph idx="1"/>
          </p:nvPr>
        </p:nvSpPr>
        <p:spPr/>
        <p:txBody>
          <a:bodyPr>
            <a:normAutofit fontScale="92500" lnSpcReduction="20000"/>
          </a:bodyPr>
          <a:lstStyle/>
          <a:p>
            <a:r>
              <a:rPr lang="es-CO" dirty="0"/>
              <a:t>Grafo no dirigido</a:t>
            </a:r>
          </a:p>
          <a:p>
            <a:r>
              <a:rPr lang="es-CO" dirty="0"/>
              <a:t>Grafo dirigido</a:t>
            </a:r>
          </a:p>
          <a:p>
            <a:r>
              <a:rPr lang="es-CO" dirty="0" err="1"/>
              <a:t>Seudografo</a:t>
            </a:r>
            <a:endParaRPr lang="es-CO" dirty="0"/>
          </a:p>
          <a:p>
            <a:r>
              <a:rPr lang="es-CO" dirty="0"/>
              <a:t>Grafo completo</a:t>
            </a:r>
          </a:p>
          <a:p>
            <a:r>
              <a:rPr lang="es-CO" dirty="0"/>
              <a:t>Grafo regular</a:t>
            </a:r>
          </a:p>
          <a:p>
            <a:r>
              <a:rPr lang="es-CO" dirty="0"/>
              <a:t>Grafo conexo</a:t>
            </a:r>
          </a:p>
          <a:p>
            <a:r>
              <a:rPr lang="es-CO" dirty="0"/>
              <a:t>Grafo bipartito</a:t>
            </a:r>
          </a:p>
          <a:p>
            <a:r>
              <a:rPr lang="es-CO" dirty="0"/>
              <a:t>Grafos isomorfos</a:t>
            </a:r>
          </a:p>
          <a:p>
            <a:r>
              <a:rPr lang="es-CO" dirty="0"/>
              <a:t>Grafos ponderados</a:t>
            </a:r>
          </a:p>
          <a:p>
            <a:r>
              <a:rPr lang="es-CO" dirty="0"/>
              <a:t>Grafo </a:t>
            </a:r>
            <a:r>
              <a:rPr lang="es-CO" dirty="0" err="1"/>
              <a:t>Euleriano</a:t>
            </a:r>
            <a:endParaRPr lang="es-CO" dirty="0"/>
          </a:p>
          <a:p>
            <a:r>
              <a:rPr lang="es-CO" dirty="0"/>
              <a:t>Grafo </a:t>
            </a:r>
            <a:r>
              <a:rPr lang="es-CO" dirty="0" err="1"/>
              <a:t>Hamiltoniano</a:t>
            </a:r>
            <a:endParaRPr lang="es-CO" dirty="0"/>
          </a:p>
        </p:txBody>
      </p:sp>
    </p:spTree>
    <p:extLst>
      <p:ext uri="{BB962C8B-B14F-4D97-AF65-F5344CB8AC3E}">
        <p14:creationId xmlns:p14="http://schemas.microsoft.com/office/powerpoint/2010/main" val="2439663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Otras </a:t>
            </a:r>
            <a:r>
              <a:rPr lang="es-CO" dirty="0" err="1"/>
              <a:t>caracteristicas</a:t>
            </a:r>
            <a:endParaRPr lang="es-CO"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1844824"/>
            <a:ext cx="7918067" cy="2520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6511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Otras </a:t>
            </a:r>
            <a:r>
              <a:rPr lang="es-CO" dirty="0" err="1"/>
              <a:t>caracteristicas</a:t>
            </a:r>
            <a:endParaRPr lang="es-CO" dirty="0"/>
          </a:p>
        </p:txBody>
      </p:sp>
      <p:sp>
        <p:nvSpPr>
          <p:cNvPr id="3" name="2 Marcador de contenido"/>
          <p:cNvSpPr>
            <a:spLocks noGrp="1"/>
          </p:cNvSpPr>
          <p:nvPr>
            <p:ph idx="1"/>
          </p:nvPr>
        </p:nvSpPr>
        <p:spPr/>
        <p:txBody>
          <a:bodyPr>
            <a:normAutofit fontScale="92500" lnSpcReduction="20000"/>
          </a:bodyPr>
          <a:lstStyle/>
          <a:p>
            <a:r>
              <a:rPr lang="es-CO" dirty="0"/>
              <a:t>Longitud de una trayectoria: es el numero de lados en ella.</a:t>
            </a:r>
          </a:p>
          <a:p>
            <a:pPr marL="137160" indent="0">
              <a:buNone/>
            </a:pPr>
            <a:endParaRPr lang="es-CO" dirty="0"/>
          </a:p>
          <a:p>
            <a:r>
              <a:rPr lang="es-CO" dirty="0"/>
              <a:t>Trayectoria: son los vértices por los cuales hay que pasar para ir de un vértice i hacia un vértice j</a:t>
            </a:r>
          </a:p>
          <a:p>
            <a:endParaRPr lang="es-CO" dirty="0"/>
          </a:p>
          <a:p>
            <a:r>
              <a:rPr lang="es-CO" dirty="0"/>
              <a:t>Trayectoria simple: es una trayectoria en la que todos los vértices excepto posiblemente el primero y el ultimo son diferentes.</a:t>
            </a:r>
          </a:p>
          <a:p>
            <a:endParaRPr lang="es-CO" dirty="0"/>
          </a:p>
          <a:p>
            <a:r>
              <a:rPr lang="es-CO" dirty="0"/>
              <a:t>Ciclo: es una trayectoria simple en el cual primero y ultimo vértice son el mismo</a:t>
            </a:r>
          </a:p>
          <a:p>
            <a:endParaRPr lang="es-CO" dirty="0"/>
          </a:p>
          <a:p>
            <a:pPr marL="137160" indent="0">
              <a:buNone/>
            </a:pPr>
            <a:endParaRPr lang="es-CO" dirty="0"/>
          </a:p>
          <a:p>
            <a:endParaRPr lang="es-CO" dirty="0"/>
          </a:p>
        </p:txBody>
      </p:sp>
    </p:spTree>
    <p:extLst>
      <p:ext uri="{BB962C8B-B14F-4D97-AF65-F5344CB8AC3E}">
        <p14:creationId xmlns:p14="http://schemas.microsoft.com/office/powerpoint/2010/main" val="3192098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Representación de grafos</a:t>
            </a:r>
          </a:p>
        </p:txBody>
      </p:sp>
      <p:sp>
        <p:nvSpPr>
          <p:cNvPr id="3" name="2 Marcador de contenido"/>
          <p:cNvSpPr>
            <a:spLocks noGrp="1"/>
          </p:cNvSpPr>
          <p:nvPr>
            <p:ph idx="1"/>
          </p:nvPr>
        </p:nvSpPr>
        <p:spPr/>
        <p:txBody>
          <a:bodyPr/>
          <a:lstStyle/>
          <a:p>
            <a:r>
              <a:rPr lang="es-CO" dirty="0"/>
              <a:t>Matriz de adyacencia</a:t>
            </a:r>
          </a:p>
          <a:p>
            <a:r>
              <a:rPr lang="es-CO" dirty="0"/>
              <a:t>Matriz de incidencia</a:t>
            </a:r>
          </a:p>
          <a:p>
            <a:r>
              <a:rPr lang="es-CO" dirty="0"/>
              <a:t>Lista ligada de adyacencia</a:t>
            </a:r>
          </a:p>
          <a:p>
            <a:r>
              <a:rPr lang="es-CO" dirty="0"/>
              <a:t>Multilista de adyacencia</a:t>
            </a:r>
          </a:p>
        </p:txBody>
      </p:sp>
    </p:spTree>
    <p:extLst>
      <p:ext uri="{BB962C8B-B14F-4D97-AF65-F5344CB8AC3E}">
        <p14:creationId xmlns:p14="http://schemas.microsoft.com/office/powerpoint/2010/main" val="891496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Grafos </a:t>
            </a:r>
            <a:r>
              <a:rPr lang="es-CO" dirty="0" err="1"/>
              <a:t>eulerianos</a:t>
            </a:r>
            <a:endParaRPr lang="es-CO"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4523" y="1268760"/>
            <a:ext cx="8164550"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69" y="2420888"/>
            <a:ext cx="8136904" cy="10764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1432" y="3645024"/>
            <a:ext cx="4258378" cy="2994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3174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O"/>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1700808"/>
            <a:ext cx="8594669"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6" descr="Graf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627784" y="3212976"/>
            <a:ext cx="3457575" cy="2314575"/>
          </a:xfrm>
          <a:prstGeom prst="rect">
            <a:avLst/>
          </a:prstGeom>
          <a:noFill/>
        </p:spPr>
      </p:pic>
    </p:spTree>
    <p:extLst>
      <p:ext uri="{BB962C8B-B14F-4D97-AF65-F5344CB8AC3E}">
        <p14:creationId xmlns:p14="http://schemas.microsoft.com/office/powerpoint/2010/main" val="2368330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O"/>
          </a:p>
        </p:txBody>
      </p:sp>
      <p:sp>
        <p:nvSpPr>
          <p:cNvPr id="4" name="3 Marcador de contenido"/>
          <p:cNvSpPr>
            <a:spLocks noGrp="1"/>
          </p:cNvSpPr>
          <p:nvPr>
            <p:ph idx="1"/>
          </p:nvPr>
        </p:nvSpPr>
        <p:spPr/>
        <p:txBody>
          <a:bodyPr/>
          <a:lstStyle/>
          <a:p>
            <a:endParaRPr lang="es-CO"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623" y="1659834"/>
            <a:ext cx="8741858" cy="136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3368392"/>
            <a:ext cx="4512501"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1216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Grafos </a:t>
            </a:r>
            <a:r>
              <a:rPr lang="es-CO" dirty="0" err="1"/>
              <a:t>hamiltonianos</a:t>
            </a:r>
            <a:endParaRPr lang="es-CO"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1700808"/>
            <a:ext cx="8780379"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3429000"/>
            <a:ext cx="4752528" cy="288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2993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997" y="980728"/>
            <a:ext cx="8306940" cy="1728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71600" y="2996952"/>
            <a:ext cx="6839705" cy="3364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4235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Coloreado de un grafo</a:t>
            </a:r>
          </a:p>
        </p:txBody>
      </p:sp>
      <p:pic>
        <p:nvPicPr>
          <p:cNvPr id="4" name="3 Marcador de contenido"/>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4380" y="1687795"/>
            <a:ext cx="7095239" cy="4533334"/>
          </a:xfrm>
          <a:prstGeom prst="rect">
            <a:avLst/>
          </a:prstGeom>
          <a:noFill/>
          <a:ln>
            <a:noFill/>
          </a:ln>
        </p:spPr>
      </p:pic>
    </p:spTree>
    <p:extLst>
      <p:ext uri="{BB962C8B-B14F-4D97-AF65-F5344CB8AC3E}">
        <p14:creationId xmlns:p14="http://schemas.microsoft.com/office/powerpoint/2010/main" val="4005309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s-CO" b="1" dirty="0"/>
              <a:t>Coloración de un grafo:</a:t>
            </a:r>
          </a:p>
          <a:p>
            <a:pPr marL="137160" indent="0">
              <a:buNone/>
            </a:pPr>
            <a:r>
              <a:rPr lang="es-CO" dirty="0"/>
              <a:t>Una coloración de un grafo simple consiste en asignarle un color a cada vértice del grafo de manera que a cada 2 vértices adyacentes se les asignan colores distintos.</a:t>
            </a:r>
          </a:p>
          <a:p>
            <a:pPr marL="137160" indent="0">
              <a:buNone/>
            </a:pPr>
            <a:endParaRPr lang="es-CO" dirty="0"/>
          </a:p>
          <a:p>
            <a:r>
              <a:rPr lang="es-CO" b="1" dirty="0"/>
              <a:t>Numero cromático</a:t>
            </a:r>
            <a:r>
              <a:rPr lang="es-CO" dirty="0"/>
              <a:t>:</a:t>
            </a:r>
          </a:p>
          <a:p>
            <a:pPr marL="137160" indent="0">
              <a:buNone/>
            </a:pPr>
            <a:r>
              <a:rPr lang="es-CO" dirty="0"/>
              <a:t>El número cromático de un grafo es el número mínimo de colores que se requieren para su coloración</a:t>
            </a:r>
          </a:p>
        </p:txBody>
      </p:sp>
    </p:spTree>
    <p:extLst>
      <p:ext uri="{BB962C8B-B14F-4D97-AF65-F5344CB8AC3E}">
        <p14:creationId xmlns:p14="http://schemas.microsoft.com/office/powerpoint/2010/main" val="3144030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Teorema de los 4 colores</a:t>
            </a:r>
          </a:p>
        </p:txBody>
      </p:sp>
      <p:sp>
        <p:nvSpPr>
          <p:cNvPr id="3" name="2 Marcador de contenido"/>
          <p:cNvSpPr>
            <a:spLocks noGrp="1"/>
          </p:cNvSpPr>
          <p:nvPr>
            <p:ph idx="1"/>
          </p:nvPr>
        </p:nvSpPr>
        <p:spPr/>
        <p:txBody>
          <a:bodyPr/>
          <a:lstStyle/>
          <a:p>
            <a:r>
              <a:rPr lang="es-CO" dirty="0"/>
              <a:t>El número cromático de un grafo plano es menor o igual que 4.</a:t>
            </a:r>
          </a:p>
          <a:p>
            <a:endParaRPr lang="es-CO" dirty="0"/>
          </a:p>
          <a:p>
            <a:r>
              <a:rPr lang="es-CO" dirty="0"/>
              <a:t>Nota: se propuso en 1850 y fue desarrollado por Kenneth </a:t>
            </a:r>
            <a:r>
              <a:rPr lang="es-CO" dirty="0" err="1"/>
              <a:t>Appel</a:t>
            </a:r>
            <a:r>
              <a:rPr lang="es-CO" dirty="0"/>
              <a:t> y Wolfgang </a:t>
            </a:r>
            <a:r>
              <a:rPr lang="es-CO" dirty="0" err="1"/>
              <a:t>Haken</a:t>
            </a:r>
            <a:r>
              <a:rPr lang="es-CO" dirty="0"/>
              <a:t> en 1976.</a:t>
            </a:r>
          </a:p>
        </p:txBody>
      </p:sp>
    </p:spTree>
    <p:extLst>
      <p:ext uri="{BB962C8B-B14F-4D97-AF65-F5344CB8AC3E}">
        <p14:creationId xmlns:p14="http://schemas.microsoft.com/office/powerpoint/2010/main" val="2185888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Algoritmo de </a:t>
            </a:r>
            <a:r>
              <a:rPr lang="es-CO" dirty="0" err="1"/>
              <a:t>Dijkstra</a:t>
            </a:r>
            <a:endParaRPr lang="es-CO" dirty="0"/>
          </a:p>
        </p:txBody>
      </p:sp>
      <p:sp>
        <p:nvSpPr>
          <p:cNvPr id="3" name="2 Marcador de contenido"/>
          <p:cNvSpPr>
            <a:spLocks noGrp="1"/>
          </p:cNvSpPr>
          <p:nvPr>
            <p:ph idx="1"/>
          </p:nvPr>
        </p:nvSpPr>
        <p:spPr/>
        <p:txBody>
          <a:bodyPr>
            <a:normAutofit fontScale="85000" lnSpcReduction="20000"/>
          </a:bodyPr>
          <a:lstStyle/>
          <a:p>
            <a:r>
              <a:rPr lang="es-CO" dirty="0"/>
              <a:t>El algoritmo de </a:t>
            </a:r>
            <a:r>
              <a:rPr lang="es-CO" dirty="0" err="1"/>
              <a:t>Dijkstra</a:t>
            </a:r>
            <a:r>
              <a:rPr lang="es-CO" dirty="0"/>
              <a:t>, también llamado algoritmo de caminos mínimos, es un algoritmo para la determinación del camino más corto, dado un vértice origen, hacia el resto de los vértices en un grafo que tiene pesos en cada arista.</a:t>
            </a:r>
          </a:p>
          <a:p>
            <a:r>
              <a:rPr lang="es-CO" dirty="0"/>
              <a:t>Es un tipo de algoritmo de búsqueda, desarrollado en 1959</a:t>
            </a:r>
          </a:p>
          <a:p>
            <a:r>
              <a:rPr lang="es-CO" dirty="0"/>
              <a:t>La idea consiste en ir explorando todos los caminos más cortos que parten del vértice origen y que llevan a todos los demás vértices; cuando se obtiene el camino más corto desde el vértice origen hasta el resto de los vértices que componen el grafo, el algoritmo se detiene. Se trata de una especialización de la búsqueda de costo uniforme y, como tal, no funciona en grafos con aristas de coste negativo </a:t>
            </a:r>
          </a:p>
        </p:txBody>
      </p:sp>
    </p:spTree>
    <p:extLst>
      <p:ext uri="{BB962C8B-B14F-4D97-AF65-F5344CB8AC3E}">
        <p14:creationId xmlns:p14="http://schemas.microsoft.com/office/powerpoint/2010/main" val="959607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Algoritmo de </a:t>
            </a:r>
            <a:r>
              <a:rPr lang="es-CO" dirty="0" err="1"/>
              <a:t>Dijkstra</a:t>
            </a:r>
            <a:endParaRPr lang="es-CO" dirty="0"/>
          </a:p>
        </p:txBody>
      </p:sp>
      <p:pic>
        <p:nvPicPr>
          <p:cNvPr id="4" name="3 Marcador de contenido"/>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1340768"/>
            <a:ext cx="8352928" cy="4968552"/>
          </a:xfrm>
          <a:prstGeom prst="rect">
            <a:avLst/>
          </a:prstGeom>
          <a:noFill/>
          <a:ln>
            <a:noFill/>
          </a:ln>
        </p:spPr>
      </p:pic>
    </p:spTree>
    <p:extLst>
      <p:ext uri="{BB962C8B-B14F-4D97-AF65-F5344CB8AC3E}">
        <p14:creationId xmlns:p14="http://schemas.microsoft.com/office/powerpoint/2010/main" val="3731747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O"/>
          </a:p>
        </p:txBody>
      </p:sp>
      <p:sp>
        <p:nvSpPr>
          <p:cNvPr id="3" name="2 Marcador de contenido"/>
          <p:cNvSpPr>
            <a:spLocks noGrp="1"/>
          </p:cNvSpPr>
          <p:nvPr>
            <p:ph idx="1"/>
          </p:nvPr>
        </p:nvSpPr>
        <p:spPr/>
        <p:txBody>
          <a:bodyPr/>
          <a:lstStyle/>
          <a:p>
            <a:r>
              <a:rPr lang="es-CO" dirty="0">
                <a:hlinkClick r:id="rId2"/>
              </a:rPr>
              <a:t>https://yottabyte.es/discreta/</a:t>
            </a:r>
            <a:endParaRPr lang="es-CO" dirty="0"/>
          </a:p>
        </p:txBody>
      </p:sp>
    </p:spTree>
    <p:extLst>
      <p:ext uri="{BB962C8B-B14F-4D97-AF65-F5344CB8AC3E}">
        <p14:creationId xmlns:p14="http://schemas.microsoft.com/office/powerpoint/2010/main" val="2039624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Otro algoritmo</a:t>
            </a:r>
          </a:p>
        </p:txBody>
      </p:sp>
      <p:sp>
        <p:nvSpPr>
          <p:cNvPr id="3" name="2 Marcador de contenido"/>
          <p:cNvSpPr>
            <a:spLocks noGrp="1"/>
          </p:cNvSpPr>
          <p:nvPr>
            <p:ph idx="1"/>
          </p:nvPr>
        </p:nvSpPr>
        <p:spPr/>
        <p:txBody>
          <a:bodyPr/>
          <a:lstStyle/>
          <a:p>
            <a:r>
              <a:rPr lang="es-CO" b="1" dirty="0"/>
              <a:t>El algoritmo de </a:t>
            </a:r>
            <a:r>
              <a:rPr lang="es-CO" b="1" dirty="0" err="1"/>
              <a:t>Bellman</a:t>
            </a:r>
            <a:r>
              <a:rPr lang="es-CO" b="1" dirty="0"/>
              <a:t>-Ford</a:t>
            </a:r>
            <a:r>
              <a:rPr lang="es-CO" dirty="0"/>
              <a:t> (</a:t>
            </a:r>
            <a:r>
              <a:rPr lang="es-CO" b="1" dirty="0"/>
              <a:t>algoritmo de Bell-</a:t>
            </a:r>
            <a:r>
              <a:rPr lang="es-CO" b="1" dirty="0" err="1"/>
              <a:t>End</a:t>
            </a:r>
            <a:r>
              <a:rPr lang="es-CO" b="1" dirty="0"/>
              <a:t>-Ford</a:t>
            </a:r>
            <a:r>
              <a:rPr lang="es-CO" dirty="0"/>
              <a:t>) genera el camino más corto en un grafo dirigido ponderado (en el que el peso de alguna de las aristas puede ser negativo)</a:t>
            </a:r>
          </a:p>
        </p:txBody>
      </p:sp>
    </p:spTree>
    <p:extLst>
      <p:ext uri="{BB962C8B-B14F-4D97-AF65-F5344CB8AC3E}">
        <p14:creationId xmlns:p14="http://schemas.microsoft.com/office/powerpoint/2010/main" val="5582424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értice">
  <a:themeElements>
    <a:clrScheme name="Vértice">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Vértice">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Vértice">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874</TotalTime>
  <Words>692</Words>
  <Application>Microsoft Office PowerPoint</Application>
  <PresentationFormat>Presentación en pantalla (4:3)</PresentationFormat>
  <Paragraphs>64</Paragraphs>
  <Slides>21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Book Antiqua</vt:lpstr>
      <vt:lpstr>Lucida Sans</vt:lpstr>
      <vt:lpstr>Wingdings</vt:lpstr>
      <vt:lpstr>Wingdings 2</vt:lpstr>
      <vt:lpstr>Wingdings 3</vt:lpstr>
      <vt:lpstr>Vértice</vt:lpstr>
      <vt:lpstr>Grafos</vt:lpstr>
      <vt:lpstr>Puentes de Konigsberg </vt:lpstr>
      <vt:lpstr>Presentación de PowerPoint</vt:lpstr>
      <vt:lpstr>Grafo</vt:lpstr>
      <vt:lpstr>Aristas y vertices</vt:lpstr>
      <vt:lpstr>Algunos tipos de grafos</vt:lpstr>
      <vt:lpstr>Otras caracteristicas</vt:lpstr>
      <vt:lpstr>Otras caracteristicas</vt:lpstr>
      <vt:lpstr>Representación de grafos</vt:lpstr>
      <vt:lpstr>Grafos eulerianos</vt:lpstr>
      <vt:lpstr>Presentación de PowerPoint</vt:lpstr>
      <vt:lpstr>Presentación de PowerPoint</vt:lpstr>
      <vt:lpstr>Grafos hamiltonianos</vt:lpstr>
      <vt:lpstr>Presentación de PowerPoint</vt:lpstr>
      <vt:lpstr>Coloreado de un grafo</vt:lpstr>
      <vt:lpstr>Presentación de PowerPoint</vt:lpstr>
      <vt:lpstr>Teorema de los 4 colores</vt:lpstr>
      <vt:lpstr>Algoritmo de Dijkstra</vt:lpstr>
      <vt:lpstr>Algoritmo de Dijkstra</vt:lpstr>
      <vt:lpstr>Presentación de PowerPoint</vt:lpstr>
      <vt:lpstr>Otro algoritmo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Grafos</dc:title>
  <dc:creator>Chucalito1</dc:creator>
  <cp:lastModifiedBy>Asus</cp:lastModifiedBy>
  <cp:revision>23</cp:revision>
  <dcterms:created xsi:type="dcterms:W3CDTF">2019-08-15T04:52:55Z</dcterms:created>
  <dcterms:modified xsi:type="dcterms:W3CDTF">2023-03-30T17:18:07Z</dcterms:modified>
</cp:coreProperties>
</file>