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21A1-A278-4691-BC5C-FE0E5EC6C7CB}" type="datetimeFigureOut">
              <a:rPr lang="es-CO" smtClean="0"/>
              <a:t>25/11/2019</a:t>
            </a:fld>
            <a:endParaRPr lang="es-C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D14F-D55A-4A35-A106-DDE3920BE10F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21A1-A278-4691-BC5C-FE0E5EC6C7CB}" type="datetimeFigureOut">
              <a:rPr lang="es-CO" smtClean="0"/>
              <a:t>25/11/2019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D14F-D55A-4A35-A106-DDE3920BE10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21A1-A278-4691-BC5C-FE0E5EC6C7CB}" type="datetimeFigureOut">
              <a:rPr lang="es-CO" smtClean="0"/>
              <a:t>25/11/2019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9151D14F-D55A-4A35-A106-DDE3920BE10F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21A1-A278-4691-BC5C-FE0E5EC6C7CB}" type="datetimeFigureOut">
              <a:rPr lang="es-CO" smtClean="0"/>
              <a:t>25/11/2019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D14F-D55A-4A35-A106-DDE3920BE10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21A1-A278-4691-BC5C-FE0E5EC6C7CB}" type="datetimeFigureOut">
              <a:rPr lang="es-CO" smtClean="0"/>
              <a:t>25/11/2019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D14F-D55A-4A35-A106-DDE3920BE10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21A1-A278-4691-BC5C-FE0E5EC6C7CB}" type="datetimeFigureOut">
              <a:rPr lang="es-CO" smtClean="0"/>
              <a:t>25/11/2019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D14F-D55A-4A35-A106-DDE3920BE10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21A1-A278-4691-BC5C-FE0E5EC6C7CB}" type="datetimeFigureOut">
              <a:rPr lang="es-CO" smtClean="0"/>
              <a:t>25/11/2019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D14F-D55A-4A35-A106-DDE3920BE10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21A1-A278-4691-BC5C-FE0E5EC6C7CB}" type="datetimeFigureOut">
              <a:rPr lang="es-CO" smtClean="0"/>
              <a:t>25/11/2019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D14F-D55A-4A35-A106-DDE3920BE10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21A1-A278-4691-BC5C-FE0E5EC6C7CB}" type="datetimeFigureOut">
              <a:rPr lang="es-CO" smtClean="0"/>
              <a:t>25/11/2019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D14F-D55A-4A35-A106-DDE3920BE10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21A1-A278-4691-BC5C-FE0E5EC6C7CB}" type="datetimeFigureOut">
              <a:rPr lang="es-CO" smtClean="0"/>
              <a:t>25/11/2019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D14F-D55A-4A35-A106-DDE3920BE10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21A1-A278-4691-BC5C-FE0E5EC6C7CB}" type="datetimeFigureOut">
              <a:rPr lang="es-CO" smtClean="0"/>
              <a:t>25/11/2019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D14F-D55A-4A35-A106-DDE3920BE10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325721A1-A278-4691-BC5C-FE0E5EC6C7CB}" type="datetimeFigureOut">
              <a:rPr lang="es-CO" smtClean="0"/>
              <a:t>25/11/2019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151D14F-D55A-4A35-A106-DDE3920BE10F}" type="slidenum">
              <a:rPr lang="es-CO" smtClean="0"/>
              <a:t>‹Nº›</a:t>
            </a:fld>
            <a:endParaRPr lang="es-C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smtClean="0"/>
              <a:t>Divisibilidad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267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976704"/>
          </a:xfrm>
        </p:spPr>
        <p:txBody>
          <a:bodyPr>
            <a:normAutofit fontScale="70000" lnSpcReduction="20000"/>
          </a:bodyPr>
          <a:lstStyle/>
          <a:p>
            <a:r>
              <a:rPr lang="es-CO" b="1" dirty="0" smtClean="0">
                <a:latin typeface="Arial" panose="020B0604020202020204" pitchFamily="34" charset="0"/>
                <a:cs typeface="Arial" panose="020B0604020202020204" pitchFamily="34" charset="0"/>
              </a:rPr>
              <a:t>Definición de divisibilidad</a:t>
            </a:r>
          </a:p>
          <a:p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0">
              <a:buNone/>
            </a:pPr>
            <a:r>
              <a:rPr lang="es-CO" b="1" dirty="0" smtClean="0">
                <a:latin typeface="Arial" panose="020B0604020202020204" pitchFamily="34" charset="0"/>
                <a:cs typeface="Arial" panose="020B0604020202020204" pitchFamily="34" charset="0"/>
              </a:rPr>
              <a:t>Sean </a:t>
            </a:r>
            <a:r>
              <a:rPr lang="es-CO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a,b,c</a:t>
            </a:r>
            <a:r>
              <a:rPr lang="es-CO" b="1" dirty="0" smtClean="0">
                <a:latin typeface="Arial" panose="020B0604020202020204" pitchFamily="34" charset="0"/>
                <a:cs typeface="Arial" panose="020B0604020202020204" pitchFamily="34" charset="0"/>
              </a:rPr>
              <a:t> enteros .</a:t>
            </a:r>
          </a:p>
          <a:p>
            <a:pPr marL="137160" indent="0">
              <a:buNone/>
            </a:pPr>
            <a:r>
              <a:rPr lang="es-CO" b="1" dirty="0" smtClean="0">
                <a:latin typeface="Arial" panose="020B0604020202020204" pitchFamily="34" charset="0"/>
                <a:cs typeface="Arial" panose="020B0604020202020204" pitchFamily="34" charset="0"/>
              </a:rPr>
              <a:t>Se dice que a divide a    b    si y solo si   b=a*c y  se escribe  </a:t>
            </a:r>
            <a:r>
              <a:rPr lang="es-CO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aIb</a:t>
            </a:r>
            <a:endParaRPr lang="es-CO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b="1" dirty="0">
                <a:latin typeface="Arial" panose="020B0604020202020204" pitchFamily="34" charset="0"/>
                <a:cs typeface="Arial" panose="020B0604020202020204" pitchFamily="34" charset="0"/>
              </a:rPr>
              <a:t>Propiedades: </a:t>
            </a:r>
            <a:endParaRPr lang="es-CO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CO" dirty="0" err="1">
                <a:latin typeface="Arial" panose="020B0604020202020204" pitchFamily="34" charset="0"/>
                <a:cs typeface="Arial" panose="020B0604020202020204" pitchFamily="34" charset="0"/>
              </a:rPr>
              <a:t>aIb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  y  </a:t>
            </a:r>
            <a:r>
              <a:rPr lang="es-CO" dirty="0" err="1">
                <a:latin typeface="Arial" panose="020B0604020202020204" pitchFamily="34" charset="0"/>
                <a:cs typeface="Arial" panose="020B0604020202020204" pitchFamily="34" charset="0"/>
              </a:rPr>
              <a:t>bIc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   entonces    </a:t>
            </a:r>
            <a:r>
              <a:rPr lang="es-CO" dirty="0" err="1">
                <a:latin typeface="Arial" panose="020B0604020202020204" pitchFamily="34" charset="0"/>
                <a:cs typeface="Arial" panose="020B0604020202020204" pitchFamily="34" charset="0"/>
              </a:rPr>
              <a:t>aIc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0">
              <a:buNone/>
            </a:pP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lvl="0"/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1Ia</a:t>
            </a:r>
          </a:p>
          <a:p>
            <a:pPr marL="137160" indent="0">
              <a:buNone/>
            </a:pP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lvl="0"/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a I 0</a:t>
            </a:r>
          </a:p>
          <a:p>
            <a:pPr marL="137160" indent="0">
              <a:buNone/>
            </a:pP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lvl="0"/>
            <a:r>
              <a:rPr lang="es-CO" dirty="0" err="1">
                <a:latin typeface="Arial" panose="020B0604020202020204" pitchFamily="34" charset="0"/>
                <a:cs typeface="Arial" panose="020B0604020202020204" pitchFamily="34" charset="0"/>
              </a:rPr>
              <a:t>aIb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   y   </a:t>
            </a:r>
            <a:r>
              <a:rPr lang="es-CO" dirty="0" err="1">
                <a:latin typeface="Arial" panose="020B0604020202020204" pitchFamily="34" charset="0"/>
                <a:cs typeface="Arial" panose="020B0604020202020204" pitchFamily="34" charset="0"/>
              </a:rPr>
              <a:t>aIc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     entonces     a I </a:t>
            </a:r>
            <a:r>
              <a:rPr lang="es-CO" dirty="0" err="1">
                <a:latin typeface="Arial" panose="020B0604020202020204" pitchFamily="34" charset="0"/>
                <a:cs typeface="Arial" panose="020B0604020202020204" pitchFamily="34" charset="0"/>
              </a:rPr>
              <a:t>b+c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0">
              <a:buNone/>
            </a:pP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lvl="0"/>
            <a:r>
              <a:rPr lang="es-CO" dirty="0" err="1">
                <a:latin typeface="Arial" panose="020B0604020202020204" pitchFamily="34" charset="0"/>
                <a:cs typeface="Arial" panose="020B0604020202020204" pitchFamily="34" charset="0"/>
              </a:rPr>
              <a:t>aIb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   y   </a:t>
            </a:r>
            <a:r>
              <a:rPr lang="es-CO" dirty="0" err="1">
                <a:latin typeface="Arial" panose="020B0604020202020204" pitchFamily="34" charset="0"/>
                <a:cs typeface="Arial" panose="020B0604020202020204" pitchFamily="34" charset="0"/>
              </a:rPr>
              <a:t>aIc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    entonces existen x, y enteros tal que </a:t>
            </a:r>
            <a:r>
              <a:rPr lang="es-CO" dirty="0" err="1"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dirty="0" err="1">
                <a:latin typeface="Arial" panose="020B0604020202020204" pitchFamily="34" charset="0"/>
                <a:cs typeface="Arial" panose="020B0604020202020204" pitchFamily="34" charset="0"/>
              </a:rPr>
              <a:t>bx+cy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0">
              <a:buNone/>
            </a:pP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lvl="0"/>
            <a:r>
              <a:rPr lang="es-CO" dirty="0" err="1">
                <a:latin typeface="Arial" panose="020B0604020202020204" pitchFamily="34" charset="0"/>
                <a:cs typeface="Arial" panose="020B0604020202020204" pitchFamily="34" charset="0"/>
              </a:rPr>
              <a:t>aIb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   y  </a:t>
            </a:r>
            <a:r>
              <a:rPr lang="es-CO" dirty="0" err="1">
                <a:latin typeface="Arial" panose="020B0604020202020204" pitchFamily="34" charset="0"/>
                <a:cs typeface="Arial" panose="020B0604020202020204" pitchFamily="34" charset="0"/>
              </a:rPr>
              <a:t>bIa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  entonces      a=b    o    a=-</a:t>
            </a:r>
            <a:r>
              <a:rPr lang="es-CO" dirty="0" smtClean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137160" indent="0">
              <a:buNone/>
            </a:pP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16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Algoritmo de la división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A  </a:t>
            </a:r>
            <a:r>
              <a:rPr lang="es-CO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I_</a:t>
            </a:r>
            <a:r>
              <a:rPr lang="es-CO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CO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_ 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    a = </a:t>
            </a:r>
            <a:r>
              <a:rPr lang="es-CO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bq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 +r ,       0 ≤ r &lt; b</a:t>
            </a:r>
            <a:endParaRPr lang="es-CO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0">
              <a:buNone/>
            </a:pP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R    q</a:t>
            </a:r>
            <a:endParaRPr lang="es-CO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0">
              <a:buNone/>
            </a:pP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CO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0">
              <a:buNone/>
            </a:pPr>
            <a:endParaRPr lang="es-CO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Ejm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para todo entero a,  demuestre que    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3  I a (2a</a:t>
            </a:r>
            <a:r>
              <a:rPr lang="es-CO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+7)</a:t>
            </a:r>
            <a:endParaRPr lang="es-CO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98516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/>
              <a:t>Máximo común divisor </a:t>
            </a:r>
            <a:br>
              <a:rPr lang="es-CO" dirty="0" smtClean="0"/>
            </a:br>
            <a:r>
              <a:rPr lang="es-CO" dirty="0" smtClean="0"/>
              <a:t>(MCD  o GCD)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400" dirty="0" smtClean="0">
                <a:latin typeface="Calibri" panose="020F0502020204030204" pitchFamily="34" charset="0"/>
              </a:rPr>
              <a:t>Hallar el Máximo común divisor de 36,12</a:t>
            </a:r>
          </a:p>
          <a:p>
            <a:endParaRPr lang="es-CO" sz="2400" dirty="0">
              <a:latin typeface="Calibri" panose="020F0502020204030204" pitchFamily="34" charset="0"/>
            </a:endParaRPr>
          </a:p>
          <a:p>
            <a:r>
              <a:rPr lang="es-CO" sz="2400" b="1" dirty="0" smtClean="0">
                <a:latin typeface="Calibri" panose="020F0502020204030204" pitchFamily="34" charset="0"/>
              </a:rPr>
              <a:t>Definición</a:t>
            </a:r>
            <a:r>
              <a:rPr lang="es-CO" sz="2400" dirty="0" smtClean="0">
                <a:latin typeface="Calibri" panose="020F0502020204030204" pitchFamily="34" charset="0"/>
              </a:rPr>
              <a:t>: sean </a:t>
            </a:r>
            <a:r>
              <a:rPr lang="es-CO" sz="2400" dirty="0" err="1" smtClean="0">
                <a:latin typeface="Calibri" panose="020F0502020204030204" pitchFamily="34" charset="0"/>
              </a:rPr>
              <a:t>a,b</a:t>
            </a:r>
            <a:r>
              <a:rPr lang="es-CO" sz="2400" dirty="0" smtClean="0">
                <a:latin typeface="Calibri" panose="020F0502020204030204" pitchFamily="34" charset="0"/>
              </a:rPr>
              <a:t> enteros diferentes de cero y sea d entero positivos.</a:t>
            </a:r>
          </a:p>
          <a:p>
            <a:pPr marL="137160" indent="0">
              <a:buNone/>
            </a:pPr>
            <a:r>
              <a:rPr lang="es-CO" sz="2400" dirty="0" smtClean="0">
                <a:latin typeface="Calibri" panose="020F0502020204030204" pitchFamily="34" charset="0"/>
              </a:rPr>
              <a:t>      </a:t>
            </a:r>
            <a:r>
              <a:rPr lang="es-CO" sz="2400" dirty="0" err="1" smtClean="0">
                <a:latin typeface="Calibri" panose="020F0502020204030204" pitchFamily="34" charset="0"/>
              </a:rPr>
              <a:t>Gcd</a:t>
            </a:r>
            <a:r>
              <a:rPr lang="es-CO" sz="2400" dirty="0" smtClean="0">
                <a:latin typeface="Calibri" panose="020F0502020204030204" pitchFamily="34" charset="0"/>
              </a:rPr>
              <a:t>(</a:t>
            </a:r>
            <a:r>
              <a:rPr lang="es-CO" sz="2400" dirty="0" err="1" smtClean="0">
                <a:latin typeface="Calibri" panose="020F0502020204030204" pitchFamily="34" charset="0"/>
              </a:rPr>
              <a:t>a,b</a:t>
            </a:r>
            <a:r>
              <a:rPr lang="es-CO" sz="2400" dirty="0" smtClean="0">
                <a:latin typeface="Calibri" panose="020F0502020204030204" pitchFamily="34" charset="0"/>
              </a:rPr>
              <a:t>)=d      </a:t>
            </a:r>
            <a:r>
              <a:rPr lang="es-CO" sz="2400" dirty="0" err="1" smtClean="0">
                <a:latin typeface="Calibri" panose="020F0502020204030204" pitchFamily="34" charset="0"/>
              </a:rPr>
              <a:t>sii</a:t>
            </a:r>
            <a:r>
              <a:rPr lang="es-CO" sz="2400" dirty="0" smtClean="0">
                <a:latin typeface="Calibri" panose="020F0502020204030204" pitchFamily="34" charset="0"/>
              </a:rPr>
              <a:t>      </a:t>
            </a:r>
            <a:r>
              <a:rPr lang="es-CO" sz="2400" dirty="0" err="1" smtClean="0">
                <a:latin typeface="Calibri" panose="020F0502020204030204" pitchFamily="34" charset="0"/>
              </a:rPr>
              <a:t>dIa</a:t>
            </a:r>
            <a:r>
              <a:rPr lang="es-CO" sz="2400" dirty="0" smtClean="0">
                <a:latin typeface="Calibri" panose="020F0502020204030204" pitchFamily="34" charset="0"/>
              </a:rPr>
              <a:t>   y   </a:t>
            </a:r>
            <a:r>
              <a:rPr lang="es-CO" sz="2400" dirty="0" err="1" smtClean="0">
                <a:latin typeface="Calibri" panose="020F0502020204030204" pitchFamily="34" charset="0"/>
              </a:rPr>
              <a:t>dIb</a:t>
            </a:r>
            <a:endParaRPr lang="es-CO" sz="2400" dirty="0" smtClean="0">
              <a:latin typeface="Calibri" panose="020F0502020204030204" pitchFamily="34" charset="0"/>
            </a:endParaRPr>
          </a:p>
          <a:p>
            <a:pPr marL="137160" indent="0">
              <a:buNone/>
            </a:pPr>
            <a:r>
              <a:rPr lang="es-CO" sz="2400" dirty="0">
                <a:latin typeface="Calibri" panose="020F0502020204030204" pitchFamily="34" charset="0"/>
              </a:rPr>
              <a:t> </a:t>
            </a:r>
            <a:r>
              <a:rPr lang="es-CO" sz="2400" dirty="0" smtClean="0">
                <a:latin typeface="Calibri" panose="020F0502020204030204" pitchFamily="34" charset="0"/>
              </a:rPr>
              <a:t>     si existe un entero c tal que </a:t>
            </a:r>
            <a:r>
              <a:rPr lang="es-CO" sz="2400" dirty="0" err="1" smtClean="0">
                <a:latin typeface="Calibri" panose="020F0502020204030204" pitchFamily="34" charset="0"/>
              </a:rPr>
              <a:t>cIa</a:t>
            </a:r>
            <a:r>
              <a:rPr lang="es-CO" sz="2400" dirty="0" smtClean="0">
                <a:latin typeface="Calibri" panose="020F0502020204030204" pitchFamily="34" charset="0"/>
              </a:rPr>
              <a:t> y </a:t>
            </a:r>
            <a:r>
              <a:rPr lang="es-CO" sz="2400" dirty="0" err="1" smtClean="0">
                <a:latin typeface="Calibri" panose="020F0502020204030204" pitchFamily="34" charset="0"/>
              </a:rPr>
              <a:t>cIb</a:t>
            </a:r>
            <a:r>
              <a:rPr lang="es-CO" sz="2400" dirty="0" smtClean="0">
                <a:latin typeface="Calibri" panose="020F0502020204030204" pitchFamily="34" charset="0"/>
              </a:rPr>
              <a:t> entonces </a:t>
            </a:r>
            <a:r>
              <a:rPr lang="es-CO" sz="2400" dirty="0" err="1" smtClean="0">
                <a:latin typeface="Calibri" panose="020F0502020204030204" pitchFamily="34" charset="0"/>
              </a:rPr>
              <a:t>c≤d</a:t>
            </a:r>
            <a:r>
              <a:rPr lang="es-CO" sz="2400" dirty="0" smtClean="0">
                <a:latin typeface="Calibri" panose="020F0502020204030204" pitchFamily="34" charset="0"/>
              </a:rPr>
              <a:t>  </a:t>
            </a:r>
            <a:endParaRPr lang="es-CO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15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b="1" dirty="0" smtClean="0"/>
              <a:t>Teorema:</a:t>
            </a:r>
            <a:r>
              <a:rPr lang="es-CO" dirty="0" smtClean="0"/>
              <a:t> </a:t>
            </a:r>
          </a:p>
          <a:p>
            <a:pPr marL="137160" indent="0">
              <a:buNone/>
            </a:pPr>
            <a:r>
              <a:rPr lang="es-CO" dirty="0" smtClean="0"/>
              <a:t>Sean </a:t>
            </a:r>
            <a:r>
              <a:rPr lang="es-CO" dirty="0" err="1" smtClean="0"/>
              <a:t>a,b</a:t>
            </a:r>
            <a:r>
              <a:rPr lang="es-CO" dirty="0" smtClean="0"/>
              <a:t> enteros, existen </a:t>
            </a:r>
            <a:r>
              <a:rPr lang="es-CO" dirty="0" err="1" smtClean="0"/>
              <a:t>x,y</a:t>
            </a:r>
            <a:r>
              <a:rPr lang="es-CO" dirty="0" smtClean="0"/>
              <a:t> enteros tal que </a:t>
            </a:r>
            <a:r>
              <a:rPr lang="es-CO" dirty="0" err="1" smtClean="0"/>
              <a:t>gcd</a:t>
            </a:r>
            <a:r>
              <a:rPr lang="es-CO" dirty="0" smtClean="0"/>
              <a:t>(</a:t>
            </a:r>
            <a:r>
              <a:rPr lang="es-CO" dirty="0" err="1" smtClean="0"/>
              <a:t>a,b</a:t>
            </a:r>
            <a:r>
              <a:rPr lang="es-CO" dirty="0" smtClean="0"/>
              <a:t>)=</a:t>
            </a:r>
            <a:r>
              <a:rPr lang="es-CO" dirty="0" err="1" smtClean="0"/>
              <a:t>ax+by</a:t>
            </a:r>
            <a:endParaRPr lang="es-CO" dirty="0" smtClean="0"/>
          </a:p>
          <a:p>
            <a:pPr marL="137160" indent="0">
              <a:buNone/>
            </a:pPr>
            <a:endParaRPr lang="es-CO" dirty="0"/>
          </a:p>
          <a:p>
            <a:pPr marL="137160" indent="0">
              <a:buNone/>
            </a:pPr>
            <a:r>
              <a:rPr lang="es-CO" dirty="0" smtClean="0"/>
              <a:t>Ejercicio: para todo entero a muestre que  </a:t>
            </a:r>
          </a:p>
          <a:p>
            <a:pPr marL="137160" indent="0">
              <a:buNone/>
            </a:pPr>
            <a:r>
              <a:rPr lang="es-CO" dirty="0" err="1" smtClean="0"/>
              <a:t>gcd</a:t>
            </a:r>
            <a:r>
              <a:rPr lang="es-CO" dirty="0" smtClean="0"/>
              <a:t>(2*a+1 ,  9*a+4)=1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63593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Definición de primo relativo</a:t>
            </a:r>
          </a:p>
          <a:p>
            <a:pPr marL="137160" indent="0">
              <a:buNone/>
            </a:pPr>
            <a:r>
              <a:rPr lang="es-CO" dirty="0" smtClean="0"/>
              <a:t>Sean </a:t>
            </a:r>
            <a:r>
              <a:rPr lang="es-CO" dirty="0" err="1" smtClean="0"/>
              <a:t>a,b</a:t>
            </a:r>
            <a:r>
              <a:rPr lang="es-CO" dirty="0" smtClean="0"/>
              <a:t> enteros , se dice que a y b son primos relativos si el </a:t>
            </a:r>
            <a:r>
              <a:rPr lang="es-CO" dirty="0" err="1" smtClean="0"/>
              <a:t>gcd</a:t>
            </a:r>
            <a:r>
              <a:rPr lang="es-CO" dirty="0" smtClean="0"/>
              <a:t>(</a:t>
            </a:r>
            <a:r>
              <a:rPr lang="es-CO" dirty="0" err="1" smtClean="0"/>
              <a:t>a,b</a:t>
            </a:r>
            <a:r>
              <a:rPr lang="es-CO" dirty="0" smtClean="0"/>
              <a:t>)=1</a:t>
            </a:r>
          </a:p>
          <a:p>
            <a:endParaRPr lang="es-CO" dirty="0"/>
          </a:p>
          <a:p>
            <a:r>
              <a:rPr lang="es-CO" dirty="0" smtClean="0"/>
              <a:t>Corolario:</a:t>
            </a:r>
          </a:p>
          <a:p>
            <a:pPr marL="137160" indent="0">
              <a:buNone/>
            </a:pPr>
            <a:r>
              <a:rPr lang="es-CO" dirty="0" smtClean="0"/>
              <a:t>Si a ,b son primos relativos entonces </a:t>
            </a:r>
            <a:r>
              <a:rPr lang="es-CO" dirty="0" err="1" smtClean="0"/>
              <a:t>ax+by</a:t>
            </a:r>
            <a:r>
              <a:rPr lang="es-CO" dirty="0" smtClean="0"/>
              <a:t>=1, con </a:t>
            </a:r>
            <a:r>
              <a:rPr lang="es-CO" dirty="0" err="1" smtClean="0"/>
              <a:t>x,y</a:t>
            </a:r>
            <a:r>
              <a:rPr lang="es-CO" dirty="0" smtClean="0"/>
              <a:t> enteros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95605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>
                <a:latin typeface="Calibri" panose="020F0502020204030204" pitchFamily="34" charset="0"/>
              </a:rPr>
              <a:t>Teorema </a:t>
            </a:r>
          </a:p>
          <a:p>
            <a:pPr marL="137160" indent="0">
              <a:buNone/>
            </a:pPr>
            <a:r>
              <a:rPr lang="es-CO" dirty="0" smtClean="0">
                <a:latin typeface="Calibri" panose="020F0502020204030204" pitchFamily="34" charset="0"/>
              </a:rPr>
              <a:t>Sea k entero diferente de cero, se tiene que </a:t>
            </a:r>
            <a:r>
              <a:rPr lang="es-CO" dirty="0" err="1" smtClean="0">
                <a:latin typeface="Calibri" panose="020F0502020204030204" pitchFamily="34" charset="0"/>
              </a:rPr>
              <a:t>gcd</a:t>
            </a:r>
            <a:r>
              <a:rPr lang="es-CO" dirty="0" smtClean="0">
                <a:latin typeface="Calibri" panose="020F0502020204030204" pitchFamily="34" charset="0"/>
              </a:rPr>
              <a:t>(</a:t>
            </a:r>
            <a:r>
              <a:rPr lang="es-CO" dirty="0" err="1" smtClean="0">
                <a:latin typeface="Calibri" panose="020F0502020204030204" pitchFamily="34" charset="0"/>
              </a:rPr>
              <a:t>ka,kb</a:t>
            </a:r>
            <a:r>
              <a:rPr lang="es-CO" dirty="0" smtClean="0">
                <a:latin typeface="Calibri" panose="020F0502020204030204" pitchFamily="34" charset="0"/>
              </a:rPr>
              <a:t>)=IKI </a:t>
            </a:r>
            <a:r>
              <a:rPr lang="es-CO" dirty="0" err="1" smtClean="0">
                <a:latin typeface="Calibri" panose="020F0502020204030204" pitchFamily="34" charset="0"/>
              </a:rPr>
              <a:t>gcd</a:t>
            </a:r>
            <a:r>
              <a:rPr lang="es-CO" dirty="0" smtClean="0">
                <a:latin typeface="Calibri" panose="020F0502020204030204" pitchFamily="34" charset="0"/>
              </a:rPr>
              <a:t>(</a:t>
            </a:r>
            <a:r>
              <a:rPr lang="es-CO" dirty="0" err="1" smtClean="0">
                <a:latin typeface="Calibri" panose="020F0502020204030204" pitchFamily="34" charset="0"/>
              </a:rPr>
              <a:t>a,b</a:t>
            </a:r>
            <a:r>
              <a:rPr lang="es-CO" dirty="0" smtClean="0">
                <a:latin typeface="Calibri" panose="020F0502020204030204" pitchFamily="34" charset="0"/>
              </a:rPr>
              <a:t>)</a:t>
            </a:r>
          </a:p>
          <a:p>
            <a:pPr marL="137160" indent="0">
              <a:buNone/>
            </a:pPr>
            <a:endParaRPr lang="es-CO" dirty="0" smtClean="0">
              <a:latin typeface="Calibri" panose="020F0502020204030204" pitchFamily="34" charset="0"/>
            </a:endParaRPr>
          </a:p>
          <a:p>
            <a:pPr marL="137160" indent="0">
              <a:buNone/>
            </a:pPr>
            <a:r>
              <a:rPr lang="es-CO" dirty="0" smtClean="0">
                <a:latin typeface="Calibri" panose="020F0502020204030204" pitchFamily="34" charset="0"/>
              </a:rPr>
              <a:t>Nota: si </a:t>
            </a:r>
            <a:r>
              <a:rPr lang="es-CO" dirty="0" err="1" smtClean="0">
                <a:latin typeface="Calibri" panose="020F0502020204030204" pitchFamily="34" charset="0"/>
              </a:rPr>
              <a:t>a,b</a:t>
            </a:r>
            <a:r>
              <a:rPr lang="es-CO" dirty="0" smtClean="0">
                <a:latin typeface="Calibri" panose="020F0502020204030204" pitchFamily="34" charset="0"/>
              </a:rPr>
              <a:t> enteros diferentes de cero </a:t>
            </a:r>
          </a:p>
          <a:p>
            <a:pPr marL="137160" indent="0">
              <a:buNone/>
            </a:pPr>
            <a:r>
              <a:rPr lang="es-CO" dirty="0" err="1" smtClean="0">
                <a:latin typeface="Calibri" panose="020F0502020204030204" pitchFamily="34" charset="0"/>
              </a:rPr>
              <a:t>Gcd</a:t>
            </a:r>
            <a:r>
              <a:rPr lang="es-CO" dirty="0" smtClean="0">
                <a:latin typeface="Calibri" panose="020F0502020204030204" pitchFamily="34" charset="0"/>
              </a:rPr>
              <a:t>(</a:t>
            </a:r>
            <a:r>
              <a:rPr lang="es-CO" dirty="0" err="1" smtClean="0">
                <a:latin typeface="Calibri" panose="020F0502020204030204" pitchFamily="34" charset="0"/>
              </a:rPr>
              <a:t>IaI,IbI</a:t>
            </a:r>
            <a:r>
              <a:rPr lang="es-CO" dirty="0" smtClean="0">
                <a:latin typeface="Calibri" panose="020F0502020204030204" pitchFamily="34" charset="0"/>
              </a:rPr>
              <a:t>)=</a:t>
            </a:r>
            <a:r>
              <a:rPr lang="es-CO" dirty="0" err="1" smtClean="0">
                <a:latin typeface="Calibri" panose="020F0502020204030204" pitchFamily="34" charset="0"/>
              </a:rPr>
              <a:t>gcd</a:t>
            </a:r>
            <a:r>
              <a:rPr lang="es-CO" dirty="0" smtClean="0">
                <a:latin typeface="Calibri" panose="020F0502020204030204" pitchFamily="34" charset="0"/>
              </a:rPr>
              <a:t>(</a:t>
            </a:r>
            <a:r>
              <a:rPr lang="es-CO" dirty="0" err="1" smtClean="0">
                <a:latin typeface="Calibri" panose="020F0502020204030204" pitchFamily="34" charset="0"/>
              </a:rPr>
              <a:t>a,b</a:t>
            </a:r>
            <a:r>
              <a:rPr lang="es-CO" dirty="0" smtClean="0">
                <a:latin typeface="Calibri" panose="020F0502020204030204" pitchFamily="34" charset="0"/>
              </a:rPr>
              <a:t>)</a:t>
            </a:r>
            <a:endParaRPr lang="es-CO" dirty="0">
              <a:latin typeface="Calibri" panose="020F0502020204030204" pitchFamily="34" charset="0"/>
            </a:endParaRPr>
          </a:p>
          <a:p>
            <a:pPr marL="137160" indent="0">
              <a:buNone/>
            </a:pPr>
            <a:r>
              <a:rPr lang="es-CO" dirty="0" smtClean="0">
                <a:latin typeface="Calibri" panose="020F0502020204030204" pitchFamily="34" charset="0"/>
              </a:rPr>
              <a:t>Lema: Si a=</a:t>
            </a:r>
            <a:r>
              <a:rPr lang="es-CO" dirty="0" err="1" smtClean="0">
                <a:latin typeface="Calibri" panose="020F0502020204030204" pitchFamily="34" charset="0"/>
              </a:rPr>
              <a:t>bq+r</a:t>
            </a:r>
            <a:r>
              <a:rPr lang="es-CO" dirty="0" smtClean="0">
                <a:latin typeface="Calibri" panose="020F0502020204030204" pitchFamily="34" charset="0"/>
              </a:rPr>
              <a:t> entonces </a:t>
            </a:r>
            <a:r>
              <a:rPr lang="es-CO" dirty="0" err="1" smtClean="0">
                <a:latin typeface="Calibri" panose="020F0502020204030204" pitchFamily="34" charset="0"/>
              </a:rPr>
              <a:t>gcd</a:t>
            </a:r>
            <a:r>
              <a:rPr lang="es-CO" dirty="0" smtClean="0">
                <a:latin typeface="Calibri" panose="020F0502020204030204" pitchFamily="34" charset="0"/>
              </a:rPr>
              <a:t>(</a:t>
            </a:r>
            <a:r>
              <a:rPr lang="es-CO" dirty="0" err="1" smtClean="0">
                <a:latin typeface="Calibri" panose="020F0502020204030204" pitchFamily="34" charset="0"/>
              </a:rPr>
              <a:t>a,b</a:t>
            </a:r>
            <a:r>
              <a:rPr lang="es-CO" dirty="0" smtClean="0">
                <a:latin typeface="Calibri" panose="020F0502020204030204" pitchFamily="34" charset="0"/>
              </a:rPr>
              <a:t>)=</a:t>
            </a:r>
            <a:r>
              <a:rPr lang="es-CO" dirty="0" err="1" smtClean="0">
                <a:latin typeface="Calibri" panose="020F0502020204030204" pitchFamily="34" charset="0"/>
              </a:rPr>
              <a:t>gcd</a:t>
            </a:r>
            <a:r>
              <a:rPr lang="es-CO" dirty="0" smtClean="0">
                <a:latin typeface="Calibri" panose="020F0502020204030204" pitchFamily="34" charset="0"/>
              </a:rPr>
              <a:t>(</a:t>
            </a:r>
            <a:r>
              <a:rPr lang="es-CO" dirty="0" err="1" smtClean="0">
                <a:latin typeface="Calibri" panose="020F0502020204030204" pitchFamily="34" charset="0"/>
              </a:rPr>
              <a:t>b,r</a:t>
            </a:r>
            <a:r>
              <a:rPr lang="es-CO" dirty="0" smtClean="0">
                <a:latin typeface="Calibri" panose="020F0502020204030204" pitchFamily="34" charset="0"/>
              </a:rPr>
              <a:t>)</a:t>
            </a:r>
            <a:endParaRPr lang="es-CO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795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/>
              <a:t>Mínimo común múltiplo</a:t>
            </a:r>
            <a:br>
              <a:rPr lang="es-CO" dirty="0" smtClean="0"/>
            </a:br>
            <a:r>
              <a:rPr lang="es-CO" dirty="0" smtClean="0"/>
              <a:t>mcm o </a:t>
            </a:r>
            <a:r>
              <a:rPr lang="es-CO" dirty="0" err="1" smtClean="0"/>
              <a:t>lcm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>
                <a:latin typeface="Calibri" panose="020F0502020204030204" pitchFamily="34" charset="0"/>
              </a:rPr>
              <a:t>Hallar el mínimo común múltiplo de 12, 36</a:t>
            </a:r>
          </a:p>
          <a:p>
            <a:endParaRPr lang="es-CO" dirty="0">
              <a:latin typeface="Calibri" panose="020F0502020204030204" pitchFamily="34" charset="0"/>
            </a:endParaRPr>
          </a:p>
          <a:p>
            <a:r>
              <a:rPr lang="es-CO" dirty="0" smtClean="0">
                <a:latin typeface="Calibri" panose="020F0502020204030204" pitchFamily="34" charset="0"/>
              </a:rPr>
              <a:t>Definición:</a:t>
            </a:r>
          </a:p>
          <a:p>
            <a:pPr marL="137160" indent="0">
              <a:buNone/>
            </a:pPr>
            <a:r>
              <a:rPr lang="es-CO" dirty="0" smtClean="0">
                <a:latin typeface="Calibri" panose="020F0502020204030204" pitchFamily="34" charset="0"/>
              </a:rPr>
              <a:t>Sean a, b enteros no negativos </a:t>
            </a:r>
          </a:p>
          <a:p>
            <a:pPr marL="137160" indent="0">
              <a:buNone/>
            </a:pPr>
            <a:r>
              <a:rPr lang="es-CO" dirty="0" err="1" smtClean="0">
                <a:latin typeface="Calibri" panose="020F0502020204030204" pitchFamily="34" charset="0"/>
              </a:rPr>
              <a:t>Lcm</a:t>
            </a:r>
            <a:r>
              <a:rPr lang="es-CO" dirty="0" smtClean="0">
                <a:latin typeface="Calibri" panose="020F0502020204030204" pitchFamily="34" charset="0"/>
              </a:rPr>
              <a:t>(</a:t>
            </a:r>
            <a:r>
              <a:rPr lang="es-CO" dirty="0" err="1" smtClean="0">
                <a:latin typeface="Calibri" panose="020F0502020204030204" pitchFamily="34" charset="0"/>
              </a:rPr>
              <a:t>a,b</a:t>
            </a:r>
            <a:r>
              <a:rPr lang="es-CO" dirty="0" smtClean="0">
                <a:latin typeface="Calibri" panose="020F0502020204030204" pitchFamily="34" charset="0"/>
              </a:rPr>
              <a:t>)=m </a:t>
            </a:r>
            <a:r>
              <a:rPr lang="es-CO" dirty="0" err="1" smtClean="0">
                <a:latin typeface="Calibri" panose="020F0502020204030204" pitchFamily="34" charset="0"/>
              </a:rPr>
              <a:t>sii</a:t>
            </a:r>
            <a:r>
              <a:rPr lang="es-CO" dirty="0" smtClean="0">
                <a:latin typeface="Calibri" panose="020F0502020204030204" pitchFamily="34" charset="0"/>
              </a:rPr>
              <a:t> </a:t>
            </a:r>
            <a:r>
              <a:rPr lang="es-CO" dirty="0" err="1" smtClean="0">
                <a:latin typeface="Calibri" panose="020F0502020204030204" pitchFamily="34" charset="0"/>
              </a:rPr>
              <a:t>aIm</a:t>
            </a:r>
            <a:r>
              <a:rPr lang="es-CO" dirty="0" smtClean="0">
                <a:latin typeface="Calibri" panose="020F0502020204030204" pitchFamily="34" charset="0"/>
              </a:rPr>
              <a:t> y </a:t>
            </a:r>
            <a:r>
              <a:rPr lang="es-CO" dirty="0" err="1" smtClean="0">
                <a:latin typeface="Calibri" panose="020F0502020204030204" pitchFamily="34" charset="0"/>
              </a:rPr>
              <a:t>bIm</a:t>
            </a:r>
            <a:r>
              <a:rPr lang="es-CO" dirty="0" smtClean="0">
                <a:latin typeface="Calibri" panose="020F0502020204030204" pitchFamily="34" charset="0"/>
              </a:rPr>
              <a:t> </a:t>
            </a:r>
          </a:p>
          <a:p>
            <a:pPr marL="137160" indent="0">
              <a:buNone/>
            </a:pPr>
            <a:r>
              <a:rPr lang="es-CO" dirty="0" smtClean="0">
                <a:latin typeface="Calibri" panose="020F0502020204030204" pitchFamily="34" charset="0"/>
              </a:rPr>
              <a:t>Si existe otro múltiplo común  c  o sea </a:t>
            </a:r>
            <a:r>
              <a:rPr lang="es-CO" dirty="0" err="1" smtClean="0">
                <a:latin typeface="Calibri" panose="020F0502020204030204" pitchFamily="34" charset="0"/>
              </a:rPr>
              <a:t>aIc</a:t>
            </a:r>
            <a:r>
              <a:rPr lang="es-CO" dirty="0" smtClean="0">
                <a:latin typeface="Calibri" panose="020F0502020204030204" pitchFamily="34" charset="0"/>
              </a:rPr>
              <a:t>  y </a:t>
            </a:r>
            <a:r>
              <a:rPr lang="es-CO" dirty="0" err="1" smtClean="0">
                <a:latin typeface="Calibri" panose="020F0502020204030204" pitchFamily="34" charset="0"/>
              </a:rPr>
              <a:t>bIc</a:t>
            </a:r>
            <a:r>
              <a:rPr lang="es-CO" dirty="0" smtClean="0">
                <a:latin typeface="Calibri" panose="020F0502020204030204" pitchFamily="34" charset="0"/>
              </a:rPr>
              <a:t> entonces </a:t>
            </a:r>
            <a:r>
              <a:rPr lang="es-CO" dirty="0" err="1" smtClean="0">
                <a:latin typeface="Calibri" panose="020F0502020204030204" pitchFamily="34" charset="0"/>
              </a:rPr>
              <a:t>m≤c</a:t>
            </a:r>
            <a:endParaRPr lang="es-CO" dirty="0" smtClean="0">
              <a:latin typeface="Calibri" panose="020F0502020204030204" pitchFamily="34" charset="0"/>
            </a:endParaRPr>
          </a:p>
          <a:p>
            <a:pPr marL="137160" indent="0">
              <a:buNone/>
            </a:pPr>
            <a:endParaRPr lang="es-CO" dirty="0">
              <a:latin typeface="Calibri" panose="020F0502020204030204" pitchFamily="34" charset="0"/>
            </a:endParaRPr>
          </a:p>
          <a:p>
            <a:pPr marL="137160" indent="0">
              <a:buNone/>
            </a:pPr>
            <a:r>
              <a:rPr lang="es-CO" dirty="0" smtClean="0">
                <a:latin typeface="Calibri" panose="020F0502020204030204" pitchFamily="34" charset="0"/>
              </a:rPr>
              <a:t>Teorema: </a:t>
            </a:r>
            <a:r>
              <a:rPr lang="es-CO" dirty="0" err="1" smtClean="0">
                <a:latin typeface="Calibri" panose="020F0502020204030204" pitchFamily="34" charset="0"/>
              </a:rPr>
              <a:t>gcd</a:t>
            </a:r>
            <a:r>
              <a:rPr lang="es-CO" dirty="0" smtClean="0">
                <a:latin typeface="Calibri" panose="020F0502020204030204" pitchFamily="34" charset="0"/>
              </a:rPr>
              <a:t>(</a:t>
            </a:r>
            <a:r>
              <a:rPr lang="es-CO" dirty="0" err="1" smtClean="0">
                <a:latin typeface="Calibri" panose="020F0502020204030204" pitchFamily="34" charset="0"/>
              </a:rPr>
              <a:t>a,b</a:t>
            </a:r>
            <a:r>
              <a:rPr lang="es-CO" dirty="0" smtClean="0">
                <a:latin typeface="Calibri" panose="020F0502020204030204" pitchFamily="34" charset="0"/>
              </a:rPr>
              <a:t>)</a:t>
            </a:r>
            <a:r>
              <a:rPr lang="es-CO" dirty="0" err="1" smtClean="0">
                <a:latin typeface="Calibri" panose="020F0502020204030204" pitchFamily="34" charset="0"/>
              </a:rPr>
              <a:t>lcm</a:t>
            </a:r>
            <a:r>
              <a:rPr lang="es-CO" dirty="0" smtClean="0">
                <a:latin typeface="Calibri" panose="020F0502020204030204" pitchFamily="34" charset="0"/>
              </a:rPr>
              <a:t>(</a:t>
            </a:r>
            <a:r>
              <a:rPr lang="es-CO" dirty="0" err="1" smtClean="0">
                <a:latin typeface="Calibri" panose="020F0502020204030204" pitchFamily="34" charset="0"/>
              </a:rPr>
              <a:t>a,b</a:t>
            </a:r>
            <a:r>
              <a:rPr lang="es-CO" dirty="0" smtClean="0">
                <a:latin typeface="Calibri" panose="020F0502020204030204" pitchFamily="34" charset="0"/>
              </a:rPr>
              <a:t>)=ab</a:t>
            </a:r>
          </a:p>
          <a:p>
            <a:endParaRPr lang="es-CO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8215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Vért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88</TotalTime>
  <Words>247</Words>
  <Application>Microsoft Office PowerPoint</Application>
  <PresentationFormat>Presentación en pantalla (4:3)</PresentationFormat>
  <Paragraphs>56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Vértice</vt:lpstr>
      <vt:lpstr>Divisibilidad</vt:lpstr>
      <vt:lpstr>Presentación de PowerPoint</vt:lpstr>
      <vt:lpstr>Algoritmo de la división</vt:lpstr>
      <vt:lpstr>Máximo común divisor  (MCD  o GCD)</vt:lpstr>
      <vt:lpstr>Presentación de PowerPoint</vt:lpstr>
      <vt:lpstr>Presentación de PowerPoint</vt:lpstr>
      <vt:lpstr>Presentación de PowerPoint</vt:lpstr>
      <vt:lpstr>Mínimo común múltiplo mcm o lcm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Divisibilidad</dc:title>
  <dc:creator>Chucalito1</dc:creator>
  <cp:lastModifiedBy>Chucalito1</cp:lastModifiedBy>
  <cp:revision>7</cp:revision>
  <dcterms:created xsi:type="dcterms:W3CDTF">2019-11-20T15:13:27Z</dcterms:created>
  <dcterms:modified xsi:type="dcterms:W3CDTF">2019-11-25T15:41:22Z</dcterms:modified>
</cp:coreProperties>
</file>