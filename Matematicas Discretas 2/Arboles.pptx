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6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AC1DA2E3-4801-4404-BD17-6A6FF4748051}" type="datetimeFigureOut">
              <a:rPr lang="es-CO" smtClean="0"/>
              <a:t>02/09/2019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EB73007-718A-4CEB-A673-7ED98CC7F9A5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inary_space_partitioning" TargetMode="External"/><Relationship Id="rId2" Type="http://schemas.openxmlformats.org/officeDocument/2006/relationships/hyperlink" Target="http://en.wikipedia.org/wiki/Binary_search_tre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Heap_%28data_structure%29" TargetMode="External"/><Relationship Id="rId5" Type="http://schemas.openxmlformats.org/officeDocument/2006/relationships/hyperlink" Target="http://en.wikipedia.org/wiki/Hash_tree" TargetMode="External"/><Relationship Id="rId4" Type="http://schemas.openxmlformats.org/officeDocument/2006/relationships/hyperlink" Target="http://en.wikipedia.org/wiki/Radix_tre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2130416/what-are-the-applications-of-binary-trees/2174096#2174096" TargetMode="External"/><Relationship Id="rId7" Type="http://schemas.openxmlformats.org/officeDocument/2006/relationships/hyperlink" Target="http://en.wikipedia.org/wiki/T-tree" TargetMode="External"/><Relationship Id="rId2" Type="http://schemas.openxmlformats.org/officeDocument/2006/relationships/hyperlink" Target="http://en.wikipedia.org/wiki/Huffman_cod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Treap" TargetMode="External"/><Relationship Id="rId5" Type="http://schemas.openxmlformats.org/officeDocument/2006/relationships/hyperlink" Target="http://en.wikipedia.org/wiki/Abstract_syntax_tree" TargetMode="External"/><Relationship Id="rId4" Type="http://schemas.openxmlformats.org/officeDocument/2006/relationships/hyperlink" Target="http://www.wisdom.weizmann.ac.il/~/oded/ggm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Arboles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83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400" dirty="0" smtClean="0"/>
              <a:t>Definición</a:t>
            </a:r>
            <a:endParaRPr lang="es-CO" sz="44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268759"/>
            <a:ext cx="5688632" cy="466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54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799"/>
            <a:ext cx="6264696" cy="457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410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Árbol binario</a:t>
            </a:r>
            <a:endParaRPr lang="es-CO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1" y="1340768"/>
            <a:ext cx="5343545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83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Propiedades del árbol binario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01862"/>
            <a:ext cx="7733034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3138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Representación del árbol binario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1. Como vector</a:t>
            </a:r>
            <a:endParaRPr lang="es-CO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04864"/>
            <a:ext cx="5771891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29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6752"/>
            <a:ext cx="7491670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134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2. Lista ligada</a:t>
            </a:r>
          </a:p>
          <a:p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350663"/>
            <a:ext cx="5805764" cy="22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261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Recorridos sobre arboles binarios</a:t>
            </a:r>
            <a:endParaRPr lang="es-CO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88840"/>
            <a:ext cx="6266878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36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Árbol binario de búsqueda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Formalmente se define un árbol binario de búsqueda de la siguiente manera: “Para todo nodo T del árbol debe cumplirse que todos los valores de los nodos del subárbol izquierdo de T deben ser menores o iguales al valor del nodo T. De forma similar, todos los valores de los nodos el subárbol derecho de T deben ser mayores o iguales al valor del nodo T”.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35971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916832"/>
            <a:ext cx="4680520" cy="3287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273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Arboles balanceados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dirty="0"/>
              <a:t>Con el objeto de mejorar el rendimiento en la búsqueda surgen los </a:t>
            </a:r>
            <a:r>
              <a:rPr lang="es-CO" b="1" dirty="0"/>
              <a:t>árboles balanceados.</a:t>
            </a:r>
            <a:endParaRPr lang="es-CO" dirty="0"/>
          </a:p>
          <a:p>
            <a:r>
              <a:rPr lang="es-CO" dirty="0"/>
              <a:t>La idea central de éstos es la de realizar reacomodos o balanceos, después de inserciones o eliminaciones de elementos. Estos árboles también reciben el nombre de </a:t>
            </a:r>
            <a:r>
              <a:rPr lang="es-CO" b="1" dirty="0"/>
              <a:t>árboles AVL </a:t>
            </a:r>
            <a:r>
              <a:rPr lang="es-CO" dirty="0"/>
              <a:t>en honor a sus inventores, dos matemáticos rusos, G.M. </a:t>
            </a:r>
            <a:r>
              <a:rPr lang="es-CO" dirty="0" err="1"/>
              <a:t>Adelson</a:t>
            </a:r>
            <a:r>
              <a:rPr lang="es-CO" dirty="0"/>
              <a:t> </a:t>
            </a:r>
            <a:r>
              <a:rPr lang="es-CO" dirty="0" err="1"/>
              <a:t>Velskii</a:t>
            </a:r>
            <a:r>
              <a:rPr lang="es-CO" dirty="0"/>
              <a:t> y E. M. </a:t>
            </a:r>
            <a:r>
              <a:rPr lang="es-CO" dirty="0" err="1"/>
              <a:t>Landis</a:t>
            </a:r>
            <a:r>
              <a:rPr lang="es-CO" dirty="0"/>
              <a:t>.</a:t>
            </a:r>
          </a:p>
          <a:p>
            <a:pPr marL="137160" indent="0">
              <a:buNone/>
            </a:pPr>
            <a:r>
              <a:rPr lang="es-CO" dirty="0"/>
              <a:t> </a:t>
            </a:r>
          </a:p>
          <a:p>
            <a:r>
              <a:rPr lang="es-CO" dirty="0"/>
              <a:t>Formalmente se define un árbol balanceado como un árbol binario de búsqueda, en el cual se debe cumplir la siguiente condición: “Para todo nodo T del árbol, la altura de los subárboles izquierdo y derecho no debe diferir en más de una unidad”.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5505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84784"/>
            <a:ext cx="6624736" cy="3888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081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Algunas aplicaciones de arboles binarios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CO" b="1" dirty="0" smtClean="0">
                <a:solidFill>
                  <a:schemeClr val="bg2">
                    <a:lumMod val="75000"/>
                  </a:schemeClr>
                </a:solidFill>
                <a:hlinkClick r:id="rId2"/>
              </a:rPr>
              <a:t>Árbol </a:t>
            </a:r>
            <a:r>
              <a:rPr lang="es-CO" b="1" dirty="0">
                <a:solidFill>
                  <a:schemeClr val="bg2">
                    <a:lumMod val="75000"/>
                  </a:schemeClr>
                </a:solidFill>
                <a:hlinkClick r:id="rId2"/>
              </a:rPr>
              <a:t>de Búsqueda binario</a:t>
            </a:r>
            <a:r>
              <a:rPr lang="es-CO" dirty="0">
                <a:solidFill>
                  <a:schemeClr val="bg2">
                    <a:lumMod val="75000"/>
                  </a:schemeClr>
                </a:solidFill>
              </a:rPr>
              <a:t> -</a:t>
            </a:r>
            <a:r>
              <a:rPr lang="es-CO" dirty="0"/>
              <a:t> que se Utiliza en </a:t>
            </a:r>
            <a:r>
              <a:rPr lang="es-CO" i="1" dirty="0"/>
              <a:t>muchas</a:t>
            </a:r>
            <a:r>
              <a:rPr lang="es-CO" dirty="0"/>
              <a:t> aplicaciones de búsqueda donde los datos es constantemente entrada/salida, tales como el </a:t>
            </a:r>
            <a:r>
              <a:rPr lang="es-CO" dirty="0" err="1"/>
              <a:t>map</a:t>
            </a:r>
            <a:r>
              <a:rPr lang="es-CO" dirty="0"/>
              <a:t> y set objetos en muchos idiomas, bibliotecas</a:t>
            </a:r>
            <a:r>
              <a:rPr lang="es-CO" dirty="0" smtClean="0"/>
              <a:t>.</a:t>
            </a:r>
          </a:p>
          <a:p>
            <a:pPr marL="137160" indent="0">
              <a:buNone/>
            </a:pPr>
            <a:endParaRPr lang="es-CO" dirty="0"/>
          </a:p>
          <a:p>
            <a:r>
              <a:rPr lang="es-CO" dirty="0" err="1">
                <a:hlinkClick r:id="rId3"/>
              </a:rPr>
              <a:t>Binary</a:t>
            </a:r>
            <a:r>
              <a:rPr lang="es-CO" dirty="0">
                <a:hlinkClick r:id="rId3"/>
              </a:rPr>
              <a:t> </a:t>
            </a:r>
            <a:r>
              <a:rPr lang="es-CO" dirty="0" err="1">
                <a:hlinkClick r:id="rId3"/>
              </a:rPr>
              <a:t>Space</a:t>
            </a:r>
            <a:r>
              <a:rPr lang="es-CO" dirty="0">
                <a:hlinkClick r:id="rId3"/>
              </a:rPr>
              <a:t> </a:t>
            </a:r>
            <a:r>
              <a:rPr lang="es-CO" dirty="0" err="1">
                <a:hlinkClick r:id="rId3"/>
              </a:rPr>
              <a:t>Partition</a:t>
            </a:r>
            <a:r>
              <a:rPr lang="es-CO" dirty="0"/>
              <a:t> - que se Utiliza en casi todos los de vídeo 3D juego para determinar qué objetos deben ser prestados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>
                <a:hlinkClick r:id="rId4"/>
              </a:rPr>
              <a:t>Binario Trata</a:t>
            </a:r>
            <a:r>
              <a:rPr lang="es-CO" dirty="0"/>
              <a:t> - se Utiliza en casi todos los de alto ancho de banda del </a:t>
            </a:r>
            <a:r>
              <a:rPr lang="es-CO" dirty="0" err="1"/>
              <a:t>router</a:t>
            </a:r>
            <a:r>
              <a:rPr lang="es-CO" dirty="0"/>
              <a:t> para almacenar </a:t>
            </a:r>
            <a:r>
              <a:rPr lang="es-CO" dirty="0" err="1"/>
              <a:t>router</a:t>
            </a:r>
            <a:r>
              <a:rPr lang="es-CO" dirty="0"/>
              <a:t>-tablas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>
                <a:hlinkClick r:id="rId5"/>
              </a:rPr>
              <a:t>Hash Árboles</a:t>
            </a:r>
            <a:r>
              <a:rPr lang="es-CO" dirty="0"/>
              <a:t> - se usa en los programas p2p y especializado imagen de la firma en la que un hash debe ser verificado, pero todo el archivo no está disponible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>
                <a:hlinkClick r:id="rId6"/>
              </a:rPr>
              <a:t>Montones</a:t>
            </a:r>
            <a:r>
              <a:rPr lang="es-CO" dirty="0"/>
              <a:t> - Utilizado en la aplicación eficiente de prioridad-colas, que a su vez se utilizan para los procesos de programación en muchos sistemas operativos, la Calidad de Servicio en los </a:t>
            </a:r>
            <a:r>
              <a:rPr lang="es-CO" dirty="0" err="1"/>
              <a:t>routers</a:t>
            </a:r>
            <a:r>
              <a:rPr lang="es-CO" dirty="0"/>
              <a:t>, y Un* </a:t>
            </a:r>
            <a:r>
              <a:rPr lang="es-CO" i="1" dirty="0"/>
              <a:t>(ruta-para encontrar el algoritmo utilizado en aplicaciones de la AI, como la robótica y los juegos de video)</a:t>
            </a:r>
            <a:r>
              <a:rPr lang="es-CO" dirty="0"/>
              <a:t>. También se utiliza en </a:t>
            </a:r>
            <a:r>
              <a:rPr lang="es-CO" dirty="0" err="1"/>
              <a:t>heap-sort</a:t>
            </a:r>
            <a:r>
              <a:rPr lang="es-CO" dirty="0" smtClean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0209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CO" sz="4600" dirty="0">
                <a:hlinkClick r:id="rId2"/>
              </a:rPr>
              <a:t>La Codificación </a:t>
            </a:r>
            <a:r>
              <a:rPr lang="es-CO" sz="4600" dirty="0" err="1">
                <a:hlinkClick r:id="rId2"/>
              </a:rPr>
              <a:t>Huffman</a:t>
            </a:r>
            <a:r>
              <a:rPr lang="es-CO" sz="4600" dirty="0">
                <a:hlinkClick r:id="rId2"/>
              </a:rPr>
              <a:t> Árbol</a:t>
            </a:r>
            <a:r>
              <a:rPr lang="es-CO" sz="4600" dirty="0"/>
              <a:t> (</a:t>
            </a:r>
            <a:r>
              <a:rPr lang="es-CO" sz="4600" dirty="0">
                <a:hlinkClick r:id="rId3"/>
              </a:rPr>
              <a:t>Chip </a:t>
            </a:r>
            <a:r>
              <a:rPr lang="es-CO" sz="4600" dirty="0" err="1">
                <a:hlinkClick r:id="rId3"/>
              </a:rPr>
              <a:t>Uni</a:t>
            </a:r>
            <a:r>
              <a:rPr lang="es-CO" sz="4600" dirty="0"/>
              <a:t>) - que se utiliza en los algoritmos de compresión, tales como los utilizados por el .</a:t>
            </a:r>
            <a:r>
              <a:rPr lang="es-CO" sz="4600" dirty="0" err="1"/>
              <a:t>jpeg</a:t>
            </a:r>
            <a:r>
              <a:rPr lang="es-CO" sz="4600" dirty="0"/>
              <a:t> y .mp3 archivo-formatos</a:t>
            </a:r>
            <a:r>
              <a:rPr lang="es-CO" sz="4600" dirty="0" smtClean="0"/>
              <a:t>.</a:t>
            </a:r>
          </a:p>
          <a:p>
            <a:endParaRPr lang="es-CO" sz="4600" dirty="0" smtClean="0"/>
          </a:p>
          <a:p>
            <a:endParaRPr lang="es-CO" sz="4600" dirty="0"/>
          </a:p>
          <a:p>
            <a:r>
              <a:rPr lang="es-CO" sz="4600" dirty="0">
                <a:hlinkClick r:id="rId4"/>
              </a:rPr>
              <a:t>GGM Árboles</a:t>
            </a:r>
            <a:r>
              <a:rPr lang="es-CO" sz="4600" dirty="0"/>
              <a:t> - que se Utiliza en aplicaciones criptográficas para generar un árbol de números </a:t>
            </a:r>
            <a:r>
              <a:rPr lang="es-CO" sz="4600" dirty="0" err="1"/>
              <a:t>pseudo</a:t>
            </a:r>
            <a:r>
              <a:rPr lang="es-CO" sz="4600" dirty="0"/>
              <a:t>-aleatorios</a:t>
            </a:r>
            <a:r>
              <a:rPr lang="es-CO" sz="4600" dirty="0" smtClean="0"/>
              <a:t>.</a:t>
            </a:r>
          </a:p>
          <a:p>
            <a:endParaRPr lang="es-CO" sz="4600" dirty="0" smtClean="0"/>
          </a:p>
          <a:p>
            <a:endParaRPr lang="es-CO" sz="4600" dirty="0"/>
          </a:p>
          <a:p>
            <a:r>
              <a:rPr lang="es-CO" sz="4600" dirty="0">
                <a:hlinkClick r:id="rId5"/>
              </a:rPr>
              <a:t>El Árbol sintáctico</a:t>
            </a:r>
            <a:r>
              <a:rPr lang="es-CO" sz="4600" dirty="0"/>
              <a:t> - Construido por los compiladores y (implícitamente) calculadoras para analizar expresiones</a:t>
            </a:r>
            <a:r>
              <a:rPr lang="es-CO" sz="4600" dirty="0" smtClean="0"/>
              <a:t>.</a:t>
            </a:r>
          </a:p>
          <a:p>
            <a:endParaRPr lang="es-CO" sz="4600" dirty="0" smtClean="0"/>
          </a:p>
          <a:p>
            <a:endParaRPr lang="es-CO" sz="4600" dirty="0"/>
          </a:p>
          <a:p>
            <a:r>
              <a:rPr lang="es-CO" sz="4600" dirty="0" err="1">
                <a:hlinkClick r:id="rId6"/>
              </a:rPr>
              <a:t>Treap</a:t>
            </a:r>
            <a:r>
              <a:rPr lang="es-CO" sz="4600" dirty="0"/>
              <a:t> Aleatorios estructura de datos utilizada en las redes inalámbricas y la asignación de memoria</a:t>
            </a:r>
            <a:r>
              <a:rPr lang="es-CO" sz="4600" dirty="0" smtClean="0"/>
              <a:t>.</a:t>
            </a:r>
          </a:p>
          <a:p>
            <a:endParaRPr lang="es-CO" sz="4600" dirty="0" smtClean="0"/>
          </a:p>
          <a:p>
            <a:endParaRPr lang="es-CO" sz="4600" dirty="0"/>
          </a:p>
          <a:p>
            <a:r>
              <a:rPr lang="es-CO" sz="4600" dirty="0">
                <a:hlinkClick r:id="rId7"/>
              </a:rPr>
              <a:t>T-árbol</a:t>
            </a:r>
            <a:r>
              <a:rPr lang="es-CO" sz="4600" dirty="0"/>
              <a:t> - Aunque la mayoría de las bases de datos de uso de alguna forma de árbol B para almacenar datos en el disco, las bases de datos que mantienen a todos (la mayoría) de sus datos en la memoria suele utilizar T-árboles para hacerlo.</a:t>
            </a:r>
          </a:p>
          <a:p>
            <a:pPr marL="137160" indent="0">
              <a:buNone/>
            </a:pPr>
            <a:r>
              <a:rPr lang="es-CO" sz="4600" dirty="0"/>
              <a:t/>
            </a:r>
            <a:br>
              <a:rPr lang="es-CO" sz="4600" dirty="0"/>
            </a:b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71244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49</TotalTime>
  <Words>180</Words>
  <Application>Microsoft Office PowerPoint</Application>
  <PresentationFormat>Presentación en pantalla (4:3)</PresentationFormat>
  <Paragraphs>39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Vértice</vt:lpstr>
      <vt:lpstr>Arboles</vt:lpstr>
      <vt:lpstr>Definición</vt:lpstr>
      <vt:lpstr>Presentación de PowerPoint</vt:lpstr>
      <vt:lpstr>Árbol binario</vt:lpstr>
      <vt:lpstr>Propiedades del árbol binario</vt:lpstr>
      <vt:lpstr>Representación del árbol binario</vt:lpstr>
      <vt:lpstr>Presentación de PowerPoint</vt:lpstr>
      <vt:lpstr>Presentación de PowerPoint</vt:lpstr>
      <vt:lpstr>Recorridos sobre arboles binarios</vt:lpstr>
      <vt:lpstr>Árbol binario de búsqueda</vt:lpstr>
      <vt:lpstr>Presentación de PowerPoint</vt:lpstr>
      <vt:lpstr>Arboles balanceados</vt:lpstr>
      <vt:lpstr>Presentación de PowerPoint</vt:lpstr>
      <vt:lpstr>Algunas aplicaciones de arboles binarios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</dc:title>
  <dc:creator>Chucalito1</dc:creator>
  <cp:lastModifiedBy>Chucalito1</cp:lastModifiedBy>
  <cp:revision>6</cp:revision>
  <dcterms:created xsi:type="dcterms:W3CDTF">2018-04-25T15:13:28Z</dcterms:created>
  <dcterms:modified xsi:type="dcterms:W3CDTF">2019-09-02T22:46:47Z</dcterms:modified>
</cp:coreProperties>
</file>