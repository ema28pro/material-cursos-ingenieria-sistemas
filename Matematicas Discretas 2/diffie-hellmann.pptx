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74F06-9FEF-4241-9185-D938BD171980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3F374-589D-4C92-A20D-2D15C10DC9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076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3F374-589D-4C92-A20D-2D15C10DC945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569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C5C6AB0-1B6E-47BA-95D3-AFA29CD35B8E}" type="datetimeFigureOut">
              <a:rPr lang="es-CO" smtClean="0"/>
              <a:t>15/03/2022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0AD60AF-76C8-4EED-AC1D-9AE4199EBBAD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Criptograf%C3%ADa_sim%C3%A9trica" TargetMode="External"/><Relationship Id="rId2" Type="http://schemas.openxmlformats.org/officeDocument/2006/relationships/hyperlink" Target="https://es.wikipedia.org/wiki/Protocolos_de_establecimiento_de_clav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54426" cy="3065512"/>
          </a:xfrm>
        </p:spPr>
        <p:txBody>
          <a:bodyPr>
            <a:normAutofit fontScale="90000"/>
          </a:bodyPr>
          <a:lstStyle/>
          <a:p>
            <a:br>
              <a:rPr lang="es-CO" dirty="0"/>
            </a:br>
            <a:br>
              <a:rPr lang="es-CO" dirty="0"/>
            </a:br>
            <a:br>
              <a:rPr lang="es-CO" dirty="0"/>
            </a:br>
            <a:br>
              <a:rPr lang="es-CO" dirty="0"/>
            </a:br>
            <a:br>
              <a:rPr lang="es-CO" dirty="0"/>
            </a:br>
            <a:r>
              <a:rPr lang="es-CO" dirty="0"/>
              <a:t>Método </a:t>
            </a:r>
            <a:br>
              <a:rPr lang="es-CO" dirty="0"/>
            </a:br>
            <a:r>
              <a:rPr lang="es-CO" dirty="0"/>
              <a:t>de </a:t>
            </a:r>
            <a:br>
              <a:rPr lang="es-CO" dirty="0"/>
            </a:br>
            <a:r>
              <a:rPr lang="es-CO" dirty="0" err="1"/>
              <a:t>Diffie-hellmann</a:t>
            </a:r>
            <a:br>
              <a:rPr lang="es-CO" dirty="0"/>
            </a:br>
            <a:r>
              <a:rPr lang="es-CO" dirty="0"/>
              <a:t>intercambio de claves</a:t>
            </a:r>
          </a:p>
        </p:txBody>
      </p:sp>
    </p:spTree>
    <p:extLst>
      <p:ext uri="{BB962C8B-B14F-4D97-AF65-F5344CB8AC3E}">
        <p14:creationId xmlns:p14="http://schemas.microsoft.com/office/powerpoint/2010/main" val="3763136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4420"/>
            <a:ext cx="8229600" cy="4709160"/>
          </a:xfrm>
        </p:spPr>
        <p:txBody>
          <a:bodyPr>
            <a:normAutofit lnSpcReduction="10000"/>
          </a:bodyPr>
          <a:lstStyle/>
          <a:p>
            <a:r>
              <a:rPr lang="es-CO" dirty="0"/>
              <a:t>Es un </a:t>
            </a:r>
            <a:r>
              <a:rPr lang="es-CO" dirty="0">
                <a:hlinkClick r:id="rId2" tooltip="Protocolos de establecimiento de claves"/>
              </a:rPr>
              <a:t>protocolo de establecimiento de claves</a:t>
            </a:r>
            <a:r>
              <a:rPr lang="es-CO" dirty="0"/>
              <a:t> entre partes que no han tenido contacto previo, utilizando un canal inseguro y de manera anónima (no autentificada).</a:t>
            </a:r>
          </a:p>
          <a:p>
            <a:pPr marL="137160" indent="0">
              <a:buNone/>
            </a:pPr>
            <a:endParaRPr lang="es-CO" dirty="0"/>
          </a:p>
          <a:p>
            <a:r>
              <a:rPr lang="es-CO" dirty="0"/>
              <a:t>Se emplea generalmente como medio para acordar claves </a:t>
            </a:r>
            <a:r>
              <a:rPr lang="es-CO" dirty="0">
                <a:hlinkClick r:id="rId3" tooltip="Criptografía simétrica"/>
              </a:rPr>
              <a:t>simétricas</a:t>
            </a:r>
            <a:r>
              <a:rPr lang="es-CO" dirty="0"/>
              <a:t> que serán empleadas para el cifrado de una sesión (establecer clave de sesión). Siendo no autenticado, sin embargo, provee las bases para varios protocolos autenticados.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6426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4420"/>
            <a:ext cx="8229600" cy="4709160"/>
          </a:xfrm>
        </p:spPr>
        <p:txBody>
          <a:bodyPr/>
          <a:lstStyle/>
          <a:p>
            <a:r>
              <a:rPr lang="es-CO" dirty="0"/>
              <a:t>Dos personas A y B desean intercambiar  mensajes y quieren acordar la clave secreta que será utilizada por ellos.</a:t>
            </a:r>
          </a:p>
          <a:p>
            <a:pPr marL="137160" indent="0">
              <a:buNone/>
            </a:pPr>
            <a:endParaRPr lang="es-CO" dirty="0"/>
          </a:p>
          <a:p>
            <a:r>
              <a:rPr lang="es-CO" dirty="0"/>
              <a:t>A y B están lejos y solo disponen de un canal de comunicación que puede ser interceptado por espías.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2946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850106"/>
          </a:xfrm>
        </p:spPr>
        <p:txBody>
          <a:bodyPr>
            <a:normAutofit/>
          </a:bodyPr>
          <a:lstStyle/>
          <a:p>
            <a:r>
              <a:rPr lang="es-CO" dirty="0"/>
              <a:t>Pasos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1268760"/>
                <a:ext cx="8280920" cy="5400600"/>
              </a:xfrm>
            </p:spPr>
            <p:txBody>
              <a:bodyPr>
                <a:normAutofit fontScale="77500" lnSpcReduction="20000"/>
              </a:bodyPr>
              <a:lstStyle/>
              <a:p>
                <a:pPr marL="137160" indent="0">
                  <a:buNone/>
                </a:pPr>
                <a:r>
                  <a:rPr lang="es-CO" sz="2400" dirty="0"/>
                  <a:t>1. A y B se ponen de acuerdo con un numero grande p (primo),  y un generador g, con 1&lt;g&lt;p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2. A elige un numero al azar llamado na.</a:t>
                </a:r>
              </a:p>
              <a:p>
                <a:pPr marL="137160" indent="0">
                  <a:buNone/>
                </a:pPr>
                <a:r>
                  <a:rPr lang="es-CO" sz="2400" dirty="0"/>
                  <a:t> ( clave privada de A)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3. B elige un numero al azar llamado </a:t>
                </a:r>
                <a:r>
                  <a:rPr lang="es-CO" sz="2400" dirty="0" err="1"/>
                  <a:t>nb</a:t>
                </a:r>
                <a:r>
                  <a:rPr lang="es-CO" sz="2400" dirty="0"/>
                  <a:t>.</a:t>
                </a:r>
              </a:p>
              <a:p>
                <a:pPr marL="137160" indent="0">
                  <a:buNone/>
                </a:pPr>
                <a:r>
                  <a:rPr lang="es-CO" sz="2400" dirty="0"/>
                  <a:t> ( clave privada de B)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4. A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smtClean="0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s-CO" sz="2400" b="0" i="1" smtClean="0">
                            <a:latin typeface="Cambria Math"/>
                          </a:rPr>
                          <m:t>𝑛𝑎</m:t>
                        </m:r>
                      </m:sup>
                    </m:sSup>
                  </m:oMath>
                </a14:m>
                <a:r>
                  <a:rPr lang="es-CO" sz="2400" dirty="0"/>
                  <a:t> </a:t>
                </a:r>
                <a:r>
                  <a:rPr lang="es-CO" sz="2400" dirty="0" err="1"/>
                  <a:t>mod</a:t>
                </a:r>
                <a:r>
                  <a:rPr lang="es-CO" sz="2400" dirty="0"/>
                  <a:t> p (clave publica de A) y se lo envía por el canal a B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5. B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s-CO" sz="2400" i="1">
                            <a:latin typeface="Cambria Math"/>
                          </a:rPr>
                          <m:t>𝑛</m:t>
                        </m:r>
                        <m:r>
                          <a:rPr lang="es-CO" sz="2400" b="0" i="1" smtClean="0">
                            <a:latin typeface="Cambria Math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s-CO" sz="2400" dirty="0"/>
                  <a:t> </a:t>
                </a:r>
                <a:r>
                  <a:rPr lang="es-CO" sz="2400" dirty="0" err="1"/>
                  <a:t>mod</a:t>
                </a:r>
                <a:r>
                  <a:rPr lang="es-CO" sz="2400" dirty="0"/>
                  <a:t> p (clave publica de B) y se lo envía por el canal a </a:t>
                </a:r>
                <a:r>
                  <a:rPr lang="es-CO" sz="2400" dirty="0" err="1"/>
                  <a:t>A</a:t>
                </a:r>
                <a:endParaRPr lang="es-CO" sz="2400" dirty="0"/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6. A recibe lo enviado por B (</a:t>
                </a:r>
                <a:r>
                  <a:rPr lang="es-CO" sz="2400" dirty="0" err="1"/>
                  <a:t>llamese</a:t>
                </a:r>
                <a:r>
                  <a:rPr lang="es-CO" sz="2400" dirty="0"/>
                  <a:t> k) y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smtClean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s-CO" sz="2400" b="0" i="1" smtClean="0">
                            <a:latin typeface="Cambria Math"/>
                          </a:rPr>
                          <m:t>𝑛𝑎</m:t>
                        </m:r>
                      </m:sup>
                    </m:sSup>
                  </m:oMath>
                </a14:m>
                <a:r>
                  <a:rPr lang="es-CO" sz="2400" dirty="0"/>
                  <a:t> </a:t>
                </a:r>
                <a:r>
                  <a:rPr lang="es-CO" sz="2400" dirty="0" err="1"/>
                  <a:t>mod</a:t>
                </a:r>
                <a:r>
                  <a:rPr lang="es-CO" sz="2400" dirty="0"/>
                  <a:t> p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7. B recibe lo enviado por A (</a:t>
                </a:r>
                <a:r>
                  <a:rPr lang="es-CO" sz="2400" dirty="0" err="1"/>
                  <a:t>llamese</a:t>
                </a:r>
                <a:r>
                  <a:rPr lang="es-CO" sz="2400" dirty="0"/>
                  <a:t> w) y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smtClean="0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s-CO" sz="2400" i="1">
                            <a:latin typeface="Cambria Math"/>
                          </a:rPr>
                          <m:t>𝑛</m:t>
                        </m:r>
                        <m:r>
                          <a:rPr lang="es-CO" sz="2400" b="0" i="1" smtClean="0">
                            <a:latin typeface="Cambria Math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s-CO" sz="2400" dirty="0"/>
                  <a:t> </a:t>
                </a:r>
                <a:r>
                  <a:rPr lang="es-CO" sz="2400" dirty="0" err="1"/>
                  <a:t>mod</a:t>
                </a:r>
                <a:r>
                  <a:rPr lang="es-CO" sz="2400" dirty="0"/>
                  <a:t> p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r>
                  <a:rPr lang="es-CO" sz="2400" dirty="0"/>
                  <a:t>El valor resultante será el numero secreto </a:t>
                </a:r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endParaRPr lang="es-CO" sz="2400" dirty="0"/>
              </a:p>
              <a:p>
                <a:pPr marL="137160" indent="0">
                  <a:buNone/>
                </a:pPr>
                <a:endParaRPr lang="es-CO" dirty="0"/>
              </a:p>
              <a:p>
                <a:pPr marL="13716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268760"/>
                <a:ext cx="8280920" cy="5400600"/>
              </a:xfrm>
              <a:blipFill rotWithShape="1">
                <a:blip r:embed="rId2"/>
                <a:stretch>
                  <a:fillRect t="-14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62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s-CO" dirty="0"/>
              <a:t>1. A y B definen un numero primo p=53, un generador g=2, Cual es el número secreto que ellos intercambian, si na=29 y </a:t>
            </a:r>
            <a:r>
              <a:rPr lang="es-CO" dirty="0" err="1"/>
              <a:t>nb</a:t>
            </a:r>
            <a:r>
              <a:rPr lang="es-CO" dirty="0"/>
              <a:t>=19?</a:t>
            </a:r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dirty="0"/>
              <a:t>2. A y B definen un numero primo p=17, un generador g=3, Cual es el número secreto que ellos intercambian, si na=3 y </a:t>
            </a:r>
            <a:r>
              <a:rPr lang="es-CO" dirty="0" err="1"/>
              <a:t>nb</a:t>
            </a:r>
            <a:r>
              <a:rPr lang="es-CO" dirty="0"/>
              <a:t>=2?</a:t>
            </a:r>
          </a:p>
          <a:p>
            <a:pPr marL="651510" indent="-514350"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0384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90</TotalTime>
  <Words>347</Words>
  <Application>Microsoft Office PowerPoint</Application>
  <PresentationFormat>Presentación en pantalla (4:3)</PresentationFormat>
  <Paragraphs>32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Book Antiqua</vt:lpstr>
      <vt:lpstr>Calibri</vt:lpstr>
      <vt:lpstr>Cambria Math</vt:lpstr>
      <vt:lpstr>Lucida Sans</vt:lpstr>
      <vt:lpstr>Wingdings</vt:lpstr>
      <vt:lpstr>Wingdings 2</vt:lpstr>
      <vt:lpstr>Wingdings 3</vt:lpstr>
      <vt:lpstr>Vértice</vt:lpstr>
      <vt:lpstr>     Método  de  Diffie-hellmann intercambio de claves</vt:lpstr>
      <vt:lpstr>Presentación de PowerPoint</vt:lpstr>
      <vt:lpstr>Presentación de PowerPoint</vt:lpstr>
      <vt:lpstr>Pasos</vt:lpstr>
      <vt:lpstr>Ejercicios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 de  Diffie-hellmann intercambio de claves</dc:title>
  <dc:creator>Chucalito1</dc:creator>
  <cp:lastModifiedBy>Asus</cp:lastModifiedBy>
  <cp:revision>5</cp:revision>
  <dcterms:created xsi:type="dcterms:W3CDTF">2019-09-05T15:53:15Z</dcterms:created>
  <dcterms:modified xsi:type="dcterms:W3CDTF">2022-03-15T21:27:34Z</dcterms:modified>
</cp:coreProperties>
</file>