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1" r:id="rId4"/>
    <p:sldId id="262" r:id="rId5"/>
    <p:sldId id="257" r:id="rId6"/>
    <p:sldId id="260" r:id="rId7"/>
    <p:sldId id="258" r:id="rId8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s-ES">
                <a:solidFill>
                  <a:schemeClr val="lt1"/>
                </a:solidFill>
                <a:latin typeface="+mn-lt"/>
                <a:ea typeface="+mn-ea"/>
                <a:cs typeface="+mn-cs"/>
              </a:rPr>
              <a:t>Haga clic en el icono para agregar una imagen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8357419E-1645-4A89-804C-59C9ECDD2028}" type="datetimeFigureOut">
              <a:rPr lang="es-CO" smtClean="0"/>
              <a:t>1/04/2025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3CECBE2-8BEE-4C7B-9E9F-C4E48F39601F}" type="slidenum">
              <a:rPr lang="es-CO" smtClean="0"/>
              <a:t>‹Nº›</a:t>
            </a:fld>
            <a:endParaRPr lang="es-C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Fermat      </a:t>
            </a:r>
            <a:br>
              <a:rPr lang="es-CO" dirty="0"/>
            </a:br>
            <a:r>
              <a:rPr lang="es-CO" dirty="0" err="1"/>
              <a:t>euler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7775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5544656"/>
          </a:xfrm>
        </p:spPr>
        <p:txBody>
          <a:bodyPr>
            <a:normAutofit lnSpcReduction="10000"/>
          </a:bodyPr>
          <a:lstStyle/>
          <a:p>
            <a:r>
              <a:rPr lang="es-CO" b="1" dirty="0"/>
              <a:t>Pequeño teorema de Fermat (</a:t>
            </a:r>
            <a:r>
              <a:rPr lang="es-CO" b="1" dirty="0" err="1"/>
              <a:t>ptf</a:t>
            </a:r>
            <a:r>
              <a:rPr lang="es-CO" b="1" dirty="0"/>
              <a:t>)</a:t>
            </a:r>
          </a:p>
          <a:p>
            <a:pPr marL="137160" indent="0">
              <a:buNone/>
            </a:pPr>
            <a:endParaRPr lang="es-CO" b="1" dirty="0"/>
          </a:p>
          <a:p>
            <a:pPr marL="137160" indent="0">
              <a:buNone/>
            </a:pPr>
            <a:r>
              <a:rPr lang="es-CO" dirty="0"/>
              <a:t>Si p es primo y </a:t>
            </a:r>
            <a:r>
              <a:rPr lang="es-CO" dirty="0" err="1"/>
              <a:t>gcd</a:t>
            </a:r>
            <a:r>
              <a:rPr lang="es-CO" dirty="0"/>
              <a:t>(</a:t>
            </a:r>
            <a:r>
              <a:rPr lang="es-CO" dirty="0" err="1"/>
              <a:t>a,p</a:t>
            </a:r>
            <a:r>
              <a:rPr lang="es-CO" dirty="0"/>
              <a:t>)=1    entonces  </a:t>
            </a:r>
          </a:p>
          <a:p>
            <a:pPr marL="137160" indent="0">
              <a:buNone/>
            </a:pPr>
            <a:r>
              <a:rPr lang="es-CO" dirty="0"/>
              <a:t>   </a:t>
            </a:r>
            <a:r>
              <a:rPr lang="es-CO" b="1" dirty="0"/>
              <a:t>a</a:t>
            </a:r>
            <a:r>
              <a:rPr lang="es-CO" b="1" baseline="30000" dirty="0"/>
              <a:t>p-1 </a:t>
            </a:r>
            <a:r>
              <a:rPr lang="es-CO" b="1" dirty="0"/>
              <a:t>≡ 1 mod p</a:t>
            </a:r>
          </a:p>
          <a:p>
            <a:pPr marL="137160" indent="0">
              <a:buNone/>
            </a:pPr>
            <a:endParaRPr lang="es-CO" b="1" dirty="0"/>
          </a:p>
          <a:p>
            <a:pPr marL="137160" indent="0">
              <a:buNone/>
            </a:pPr>
            <a:r>
              <a:rPr lang="es-CO" b="1" dirty="0" err="1"/>
              <a:t>Ejm</a:t>
            </a:r>
            <a:r>
              <a:rPr lang="es-CO" b="1" dirty="0"/>
              <a:t>:</a:t>
            </a:r>
            <a:endParaRPr lang="es-CO" dirty="0"/>
          </a:p>
          <a:p>
            <a:pPr marL="137160" indent="0">
              <a:buNone/>
            </a:pPr>
            <a:r>
              <a:rPr lang="es-CO" dirty="0"/>
              <a:t> a=9,    p=23,   </a:t>
            </a:r>
            <a:r>
              <a:rPr lang="es-CO" dirty="0" err="1"/>
              <a:t>gcd</a:t>
            </a:r>
            <a:r>
              <a:rPr lang="es-CO" dirty="0"/>
              <a:t>(9,23)=1</a:t>
            </a:r>
          </a:p>
          <a:p>
            <a:pPr marL="137160" indent="0">
              <a:buNone/>
            </a:pPr>
            <a:r>
              <a:rPr lang="es-CO" b="1" dirty="0"/>
              <a:t>9^22</a:t>
            </a:r>
            <a:r>
              <a:rPr lang="es-CO" b="1" baseline="30000" dirty="0"/>
              <a:t> </a:t>
            </a:r>
            <a:r>
              <a:rPr lang="es-CO" b="1" dirty="0"/>
              <a:t>≡ 1 mod 23</a:t>
            </a:r>
            <a:endParaRPr lang="es-CO" dirty="0"/>
          </a:p>
          <a:p>
            <a:pPr marL="137160" indent="0">
              <a:buNone/>
            </a:pPr>
            <a:endParaRPr lang="es-CO" dirty="0"/>
          </a:p>
          <a:p>
            <a:r>
              <a:rPr lang="es-CO" b="1" dirty="0"/>
              <a:t>Corolario </a:t>
            </a:r>
            <a:endParaRPr lang="es-CO" dirty="0"/>
          </a:p>
          <a:p>
            <a:pPr marL="137160" indent="0">
              <a:buNone/>
            </a:pPr>
            <a:r>
              <a:rPr lang="es-CO" dirty="0"/>
              <a:t>Si p es primo entonces   </a:t>
            </a:r>
            <a:r>
              <a:rPr lang="es-CO" b="1" dirty="0" err="1"/>
              <a:t>a</a:t>
            </a:r>
            <a:r>
              <a:rPr lang="es-CO" b="1" baseline="30000" dirty="0" err="1"/>
              <a:t>p</a:t>
            </a:r>
            <a:r>
              <a:rPr lang="es-CO" b="1" baseline="30000" dirty="0"/>
              <a:t>  </a:t>
            </a:r>
            <a:r>
              <a:rPr lang="es-CO" b="1" dirty="0"/>
              <a:t>≡ a  </a:t>
            </a:r>
            <a:r>
              <a:rPr lang="es-CO" b="1" dirty="0" err="1"/>
              <a:t>mod</a:t>
            </a:r>
            <a:r>
              <a:rPr lang="es-CO" b="1" dirty="0"/>
              <a:t> p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4702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Lema</a:t>
            </a:r>
            <a:endParaRPr lang="es-CO" dirty="0"/>
          </a:p>
          <a:p>
            <a:pPr marL="137160" indent="0">
              <a:buNone/>
            </a:pPr>
            <a:r>
              <a:rPr lang="es-CO" dirty="0"/>
              <a:t>Si p y q son primos diferentes tal que  </a:t>
            </a:r>
          </a:p>
          <a:p>
            <a:pPr marL="137160" indent="0">
              <a:buNone/>
            </a:pPr>
            <a:r>
              <a:rPr lang="es-CO" b="1" dirty="0" err="1"/>
              <a:t>a</a:t>
            </a:r>
            <a:r>
              <a:rPr lang="es-CO" b="1" baseline="30000" dirty="0" err="1"/>
              <a:t>p</a:t>
            </a:r>
            <a:r>
              <a:rPr lang="es-CO" b="1" baseline="30000" dirty="0"/>
              <a:t>  </a:t>
            </a:r>
            <a:r>
              <a:rPr lang="es-CO" b="1" dirty="0"/>
              <a:t>≡ a </a:t>
            </a:r>
            <a:r>
              <a:rPr lang="es-CO" b="1" dirty="0" err="1"/>
              <a:t>mod</a:t>
            </a:r>
            <a:r>
              <a:rPr lang="es-CO" b="1" dirty="0"/>
              <a:t> q</a:t>
            </a:r>
            <a:r>
              <a:rPr lang="es-CO" dirty="0"/>
              <a:t>    y   </a:t>
            </a:r>
            <a:r>
              <a:rPr lang="es-CO" b="1" dirty="0" err="1"/>
              <a:t>a</a:t>
            </a:r>
            <a:r>
              <a:rPr lang="es-CO" b="1" baseline="30000" dirty="0" err="1"/>
              <a:t>q</a:t>
            </a:r>
            <a:r>
              <a:rPr lang="es-CO" b="1" baseline="30000" dirty="0"/>
              <a:t>  </a:t>
            </a:r>
            <a:r>
              <a:rPr lang="es-CO" b="1" dirty="0"/>
              <a:t>≡ a </a:t>
            </a:r>
            <a:r>
              <a:rPr lang="es-CO" b="1" dirty="0" err="1"/>
              <a:t>mod</a:t>
            </a:r>
            <a:r>
              <a:rPr lang="es-CO" b="1" dirty="0"/>
              <a:t> p</a:t>
            </a:r>
            <a:r>
              <a:rPr lang="es-CO" dirty="0"/>
              <a:t>     entonces   </a:t>
            </a:r>
          </a:p>
          <a:p>
            <a:pPr marL="137160" indent="0">
              <a:buNone/>
            </a:pPr>
            <a:r>
              <a:rPr lang="es-CO" b="1" dirty="0" err="1"/>
              <a:t>a</a:t>
            </a:r>
            <a:r>
              <a:rPr lang="es-CO" b="1" baseline="30000" dirty="0" err="1"/>
              <a:t>pq</a:t>
            </a:r>
            <a:r>
              <a:rPr lang="es-CO" b="1" baseline="30000" dirty="0"/>
              <a:t>  </a:t>
            </a:r>
            <a:r>
              <a:rPr lang="es-CO" b="1" dirty="0"/>
              <a:t>≡ a </a:t>
            </a:r>
            <a:r>
              <a:rPr lang="es-CO" b="1" dirty="0" err="1"/>
              <a:t>mod</a:t>
            </a:r>
            <a:r>
              <a:rPr lang="es-CO" b="1" dirty="0"/>
              <a:t> </a:t>
            </a:r>
            <a:r>
              <a:rPr lang="es-CO" b="1" dirty="0" err="1"/>
              <a:t>pq</a:t>
            </a:r>
            <a:r>
              <a:rPr lang="es-CO" dirty="0"/>
              <a:t>        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2937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Verifique que a</a:t>
            </a:r>
            <a:r>
              <a:rPr lang="es-CO" baseline="30000" dirty="0"/>
              <a:t>560   </a:t>
            </a:r>
            <a:r>
              <a:rPr lang="es-CO" dirty="0"/>
              <a:t>≡ 1 mod 561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7512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Teorema de Euler</a:t>
            </a:r>
          </a:p>
          <a:p>
            <a:pPr marL="137160" indent="0">
              <a:buNone/>
            </a:pPr>
            <a:endParaRPr lang="es-CO" b="1" dirty="0"/>
          </a:p>
          <a:p>
            <a:pPr marL="137160" indent="0">
              <a:buNone/>
            </a:pPr>
            <a:r>
              <a:rPr lang="es-CO" dirty="0"/>
              <a:t>Si n es un entero positivo  y  </a:t>
            </a:r>
            <a:r>
              <a:rPr lang="es-CO" dirty="0" err="1"/>
              <a:t>gcd</a:t>
            </a:r>
            <a:r>
              <a:rPr lang="es-CO" dirty="0"/>
              <a:t>(</a:t>
            </a:r>
            <a:r>
              <a:rPr lang="es-CO" dirty="0" err="1"/>
              <a:t>a,n</a:t>
            </a:r>
            <a:r>
              <a:rPr lang="es-CO" dirty="0"/>
              <a:t>)=1  entonces    </a:t>
            </a:r>
            <a:r>
              <a:rPr lang="es-CO" b="1" dirty="0" err="1"/>
              <a:t>a</a:t>
            </a:r>
            <a:r>
              <a:rPr lang="es-CO" b="1" baseline="30000" dirty="0" err="1"/>
              <a:t>φ</a:t>
            </a:r>
            <a:r>
              <a:rPr lang="es-CO" b="1" baseline="30000" dirty="0"/>
              <a:t>(n  )</a:t>
            </a:r>
            <a:r>
              <a:rPr lang="es-CO" b="1" dirty="0"/>
              <a:t>≡ 1 </a:t>
            </a:r>
            <a:r>
              <a:rPr lang="es-CO" b="1" dirty="0" err="1"/>
              <a:t>mod</a:t>
            </a:r>
            <a:r>
              <a:rPr lang="es-CO" b="1" dirty="0"/>
              <a:t> n</a:t>
            </a:r>
          </a:p>
          <a:p>
            <a:pPr marL="137160" indent="0">
              <a:buNone/>
            </a:pPr>
            <a:endParaRPr lang="es-CO" dirty="0"/>
          </a:p>
          <a:p>
            <a:r>
              <a:rPr lang="es-CO" b="1" dirty="0"/>
              <a:t>Nota:</a:t>
            </a:r>
            <a:r>
              <a:rPr lang="es-CO" dirty="0"/>
              <a:t> Cuando n es un numero primo  p entonces </a:t>
            </a:r>
            <a:r>
              <a:rPr lang="es-CO" dirty="0" err="1"/>
              <a:t>gcd</a:t>
            </a:r>
            <a:r>
              <a:rPr lang="es-CO" dirty="0"/>
              <a:t>(</a:t>
            </a:r>
            <a:r>
              <a:rPr lang="es-CO" dirty="0" err="1"/>
              <a:t>a,p</a:t>
            </a:r>
            <a:r>
              <a:rPr lang="es-CO" dirty="0"/>
              <a:t>)=1 ,     </a:t>
            </a:r>
            <a:r>
              <a:rPr lang="es-CO" b="1" dirty="0" err="1"/>
              <a:t>a</a:t>
            </a:r>
            <a:r>
              <a:rPr lang="es-CO" b="1" baseline="30000" dirty="0" err="1"/>
              <a:t>φ</a:t>
            </a:r>
            <a:r>
              <a:rPr lang="es-CO" b="1" baseline="30000" dirty="0"/>
              <a:t>(p )</a:t>
            </a:r>
            <a:r>
              <a:rPr lang="es-CO" b="1" dirty="0"/>
              <a:t>≡ 1 </a:t>
            </a:r>
            <a:r>
              <a:rPr lang="es-CO" b="1" dirty="0" err="1"/>
              <a:t>mod</a:t>
            </a:r>
            <a:r>
              <a:rPr lang="es-CO" b="1" dirty="0"/>
              <a:t> p   o sea </a:t>
            </a:r>
            <a:endParaRPr lang="es-CO" dirty="0"/>
          </a:p>
          <a:p>
            <a:pPr marL="137160" indent="0">
              <a:buNone/>
            </a:pPr>
            <a:r>
              <a:rPr lang="es-CO" dirty="0"/>
              <a:t>     </a:t>
            </a:r>
            <a:r>
              <a:rPr lang="es-CO" b="1" dirty="0"/>
              <a:t>a</a:t>
            </a:r>
            <a:r>
              <a:rPr lang="es-CO" b="1" baseline="30000" dirty="0"/>
              <a:t>p-1 </a:t>
            </a:r>
            <a:r>
              <a:rPr lang="es-CO" b="1" dirty="0"/>
              <a:t>≡ 1 </a:t>
            </a:r>
            <a:r>
              <a:rPr lang="es-CO" b="1" dirty="0" err="1"/>
              <a:t>mod</a:t>
            </a:r>
            <a:r>
              <a:rPr lang="es-CO" b="1" dirty="0"/>
              <a:t> p</a:t>
            </a:r>
          </a:p>
          <a:p>
            <a:pPr marL="137160" indent="0">
              <a:buNone/>
            </a:pP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1620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b="1" dirty="0"/>
              <a:t>Teorema </a:t>
            </a:r>
            <a:endParaRPr lang="es-CO" dirty="0"/>
          </a:p>
          <a:p>
            <a:pPr marL="137160" indent="0">
              <a:buNone/>
            </a:pPr>
            <a:r>
              <a:rPr lang="es-CO" dirty="0"/>
              <a:t>Si p es un numero primo   y  </a:t>
            </a:r>
            <a:r>
              <a:rPr lang="es-CO" dirty="0" err="1"/>
              <a:t>gcd</a:t>
            </a:r>
            <a:r>
              <a:rPr lang="es-CO" dirty="0"/>
              <a:t>(</a:t>
            </a:r>
            <a:r>
              <a:rPr lang="es-CO" dirty="0" err="1"/>
              <a:t>a,p</a:t>
            </a:r>
            <a:r>
              <a:rPr lang="es-CO" dirty="0"/>
              <a:t>)=1  entonces    </a:t>
            </a:r>
          </a:p>
          <a:p>
            <a:endParaRPr lang="es-C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189604-742F-47D2-874D-CF7CAD9E8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453063"/>
            <a:ext cx="1828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37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Ejercicio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975B76-B26B-4B6A-A40E-955EED7BF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25" y="2205037"/>
            <a:ext cx="333375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731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értice">
  <a:themeElements>
    <a:clrScheme name="Vértice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Vértice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238</TotalTime>
  <Words>173</Words>
  <Application>Microsoft Office PowerPoint</Application>
  <PresentationFormat>Presentación en pantalla (4:3)</PresentationFormat>
  <Paragraphs>27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Book Antiqua</vt:lpstr>
      <vt:lpstr>Lucida Sans</vt:lpstr>
      <vt:lpstr>Wingdings</vt:lpstr>
      <vt:lpstr>Wingdings 2</vt:lpstr>
      <vt:lpstr>Wingdings 3</vt:lpstr>
      <vt:lpstr>Vértice</vt:lpstr>
      <vt:lpstr>Fermat       euler</vt:lpstr>
      <vt:lpstr>Presentación de PowerPoint</vt:lpstr>
      <vt:lpstr>Presentación de PowerPoint</vt:lpstr>
      <vt:lpstr>Ejercicio</vt:lpstr>
      <vt:lpstr>Presentación de PowerPoint</vt:lpstr>
      <vt:lpstr>Presentación de PowerPoint</vt:lpstr>
      <vt:lpstr>Ejercicio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Fermat       euler</dc:title>
  <dc:creator>Chucalito1</dc:creator>
  <cp:lastModifiedBy>USUARIO</cp:lastModifiedBy>
  <cp:revision>11</cp:revision>
  <dcterms:created xsi:type="dcterms:W3CDTF">2017-08-28T04:00:36Z</dcterms:created>
  <dcterms:modified xsi:type="dcterms:W3CDTF">2025-04-01T22:38:48Z</dcterms:modified>
</cp:coreProperties>
</file>